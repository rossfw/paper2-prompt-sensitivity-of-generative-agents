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1"/>
  </p:notesMasterIdLst>
  <p:sldIdLst>
    <p:sldId id="1779" r:id="rId2"/>
    <p:sldId id="1896" r:id="rId3"/>
    <p:sldId id="1849" r:id="rId4"/>
    <p:sldId id="1902" r:id="rId5"/>
    <p:sldId id="1898" r:id="rId6"/>
    <p:sldId id="1851" r:id="rId7"/>
    <p:sldId id="1853" r:id="rId8"/>
    <p:sldId id="1854" r:id="rId9"/>
    <p:sldId id="1858" r:id="rId10"/>
    <p:sldId id="1899" r:id="rId11"/>
    <p:sldId id="1900" r:id="rId12"/>
    <p:sldId id="1903" r:id="rId13"/>
    <p:sldId id="1862" r:id="rId14"/>
    <p:sldId id="1865" r:id="rId15"/>
    <p:sldId id="1866" r:id="rId16"/>
    <p:sldId id="1904" r:id="rId17"/>
    <p:sldId id="1905" r:id="rId18"/>
    <p:sldId id="1868" r:id="rId19"/>
    <p:sldId id="1871" r:id="rId20"/>
    <p:sldId id="1875" r:id="rId21"/>
    <p:sldId id="1876" r:id="rId22"/>
    <p:sldId id="1877" r:id="rId23"/>
    <p:sldId id="1879" r:id="rId24"/>
    <p:sldId id="1880" r:id="rId25"/>
    <p:sldId id="1881" r:id="rId26"/>
    <p:sldId id="1882" r:id="rId27"/>
    <p:sldId id="1883" r:id="rId28"/>
    <p:sldId id="1884" r:id="rId29"/>
    <p:sldId id="1887" r:id="rId30"/>
    <p:sldId id="1888" r:id="rId31"/>
    <p:sldId id="1891" r:id="rId32"/>
    <p:sldId id="1892" r:id="rId33"/>
    <p:sldId id="1895" r:id="rId34"/>
    <p:sldId id="1837" r:id="rId35"/>
    <p:sldId id="1859" r:id="rId36"/>
    <p:sldId id="1855" r:id="rId37"/>
    <p:sldId id="1901" r:id="rId38"/>
    <p:sldId id="1857" r:id="rId39"/>
    <p:sldId id="185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1F41"/>
    <a:srgbClr val="84293F"/>
    <a:srgbClr val="81273E"/>
    <a:srgbClr val="FF6700"/>
    <a:srgbClr val="7D495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798"/>
  </p:normalViewPr>
  <p:slideViewPr>
    <p:cSldViewPr snapToGrid="0" snapToObjects="1">
      <p:cViewPr varScale="1">
        <p:scale>
          <a:sx n="78" d="100"/>
          <a:sy n="78" d="100"/>
        </p:scale>
        <p:origin x="76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50342-228F-8D44-B68A-FB2E5D5621EF}" type="datetimeFigureOut">
              <a:rPr lang="en-US" smtClean="0"/>
              <a:t>10/31/2023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96CB2-3EBD-9143-BF8A-FF8CD232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8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Advisor name, funding for project… motivate study in introduction I really need a method section probably. Intro. Background.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96CB2-3EBD-9143-BF8A-FF8CD23284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9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858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37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710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526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028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69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36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107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12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97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233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198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53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96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3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4023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01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44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15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587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6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914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183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4324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61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8770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66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16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405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088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702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6186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96CB2-3EBD-9143-BF8A-FF8CD23284A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216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Systems Dynamics model on the Oscillation Behavior of Learning and Forgetting in Safety-Critical Systems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271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Systems Dynamics model on the Oscillation Behavior of Learning and Forgetting in Safety-Critical Systems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591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Systems Dynamics model on the Oscillation Behavior of Learning and Forgetting in Safety-Critical Systems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4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backgrou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/>
          <p:cNvSpPr>
            <a:spLocks noGrp="1"/>
          </p:cNvSpPr>
          <p:nvPr userDrawn="1"/>
        </p:nvSpPr>
        <p:spPr>
          <a:xfrm>
            <a:off x="-15607" y="-643262"/>
            <a:ext cx="12223214" cy="814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endParaRPr lang="en-US"/>
          </a:p>
        </p:txBody>
      </p:sp>
      <p:pic>
        <p:nvPicPr>
          <p:cNvPr id="3" name="pasted-image.pdf" descr="pasted-image.pdf">
            <a:extLst>
              <a:ext uri="{FF2B5EF4-FFF2-40B4-BE49-F238E27FC236}">
                <a16:creationId xmlns:a16="http://schemas.microsoft.com/office/drawing/2014/main" id="{BFC2BD2A-A3DA-0CBB-952A-17E042DDA0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6FCDDF-91E2-A422-46EF-43DF6603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27" y="3164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CADA0-63F9-EE05-E314-3D73FEEB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BCD69-39DB-0C45-E0AA-875598C5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mmmmm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D100C-41EE-D935-FB96-58941269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424C-3ADF-794F-BE59-7B31A2F69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1155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backgrou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/>
          <p:cNvSpPr>
            <a:spLocks noGrp="1"/>
          </p:cNvSpPr>
          <p:nvPr userDrawn="1"/>
        </p:nvSpPr>
        <p:spPr>
          <a:xfrm>
            <a:off x="-15607" y="-643262"/>
            <a:ext cx="12223214" cy="814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FDAFF-F0AD-8093-5485-662DCCAEB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83399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629E4D-D6AE-3D54-BED9-55CFADA35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79398C-840A-2BD0-6E30-24A042879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err="1"/>
              <a:t>mmmmm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ABD6D1-C202-62B9-516B-91CB553F5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6424C-3ADF-794F-BE59-7B31A2F69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2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bg2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41.png"/><Relationship Id="rId5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2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23.jpeg"/><Relationship Id="rId5" Type="http://schemas.openxmlformats.org/officeDocument/2006/relationships/image" Target="../media/image33.png"/><Relationship Id="rId10" Type="http://schemas.openxmlformats.org/officeDocument/2006/relationships/image" Target="../media/image39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eg"/><Relationship Id="rId5" Type="http://schemas.openxmlformats.org/officeDocument/2006/relationships/image" Target="../media/image24.jpeg"/><Relationship Id="rId10" Type="http://schemas.openxmlformats.org/officeDocument/2006/relationships/image" Target="../media/image45.png"/><Relationship Id="rId4" Type="http://schemas.openxmlformats.org/officeDocument/2006/relationships/image" Target="../media/image23.jpeg"/><Relationship Id="rId9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24.jpeg"/><Relationship Id="rId3" Type="http://schemas.openxmlformats.org/officeDocument/2006/relationships/image" Target="../media/image1.png"/><Relationship Id="rId12" Type="http://schemas.openxmlformats.org/officeDocument/2006/relationships/image" Target="../media/image2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47.png"/><Relationship Id="rId5" Type="http://schemas.openxmlformats.org/officeDocument/2006/relationships/image" Target="../media/image71.png"/><Relationship Id="rId15" Type="http://schemas.openxmlformats.org/officeDocument/2006/relationships/image" Target="../media/image48.png"/><Relationship Id="rId10" Type="http://schemas.openxmlformats.org/officeDocument/2006/relationships/image" Target="../media/image46.png"/><Relationship Id="rId4" Type="http://schemas.openxmlformats.org/officeDocument/2006/relationships/image" Target="../media/image7.png"/><Relationship Id="rId9" Type="http://schemas.openxmlformats.org/officeDocument/2006/relationships/image" Target="../media/image75.png"/><Relationship Id="rId14" Type="http://schemas.openxmlformats.org/officeDocument/2006/relationships/image" Target="../media/image4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1"/>
          <a:stretch/>
        </p:blipFill>
        <p:spPr>
          <a:xfrm>
            <a:off x="0" y="0"/>
            <a:ext cx="9016376" cy="6858000"/>
          </a:xfrm>
          <a:prstGeom prst="rect">
            <a:avLst/>
          </a:prstGeom>
        </p:spPr>
      </p:pic>
      <p:sp>
        <p:nvSpPr>
          <p:cNvPr id="335" name="Rectangle"/>
          <p:cNvSpPr/>
          <p:nvPr/>
        </p:nvSpPr>
        <p:spPr>
          <a:xfrm>
            <a:off x="0" y="-1"/>
            <a:ext cx="9016375" cy="6858001"/>
          </a:xfrm>
          <a:prstGeom prst="rect">
            <a:avLst/>
          </a:prstGeom>
          <a:solidFill>
            <a:schemeClr val="tx1">
              <a:alpha val="89814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13" name="pasted-image.pdf" descr="pasted-image.pdf">
            <a:extLst>
              <a:ext uri="{FF2B5EF4-FFF2-40B4-BE49-F238E27FC236}">
                <a16:creationId xmlns:a16="http://schemas.microsoft.com/office/drawing/2014/main" id="{E45E7BD3-66B1-FB4B-B16D-4EC739BB5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215" y="1478100"/>
            <a:ext cx="229812" cy="229813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ESENTATION TITLE GOES HERE">
            <a:extLst>
              <a:ext uri="{FF2B5EF4-FFF2-40B4-BE49-F238E27FC236}">
                <a16:creationId xmlns:a16="http://schemas.microsoft.com/office/drawing/2014/main" id="{F4413DA2-0208-9F40-B55D-1F82C0A7CB3B}"/>
              </a:ext>
            </a:extLst>
          </p:cNvPr>
          <p:cNvSpPr/>
          <p:nvPr/>
        </p:nvSpPr>
        <p:spPr>
          <a:xfrm>
            <a:off x="1358026" y="1593006"/>
            <a:ext cx="7658348" cy="146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t">
            <a:noAutofit/>
          </a:bodyPr>
          <a:lstStyle>
            <a:lvl1pPr defTabSz="758951">
              <a:lnSpc>
                <a:spcPct val="90000"/>
              </a:lnSpc>
              <a:defRPr sz="5312" spc="265">
                <a:solidFill>
                  <a:schemeClr val="accent5">
                    <a:hueOff val="-15428571"/>
                    <a:satOff val="-30434"/>
                    <a:lumOff val="9019"/>
                  </a:schemeClr>
                </a:solidFill>
                <a:latin typeface="AcherusGrotesqueLight"/>
                <a:ea typeface="AcherusGrotesqueLight"/>
                <a:cs typeface="AcherusGrotesqueLight"/>
                <a:sym typeface="AcherusGrotesqueLight"/>
              </a:defRPr>
            </a:lvl1pPr>
          </a:lstStyle>
          <a:p>
            <a:pPr marL="0" marR="0" lvl="0" indent="0" algn="l" defTabSz="758951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Generative Agent-based Modeling: Prompt Sensitivity Analysis</a:t>
            </a:r>
          </a:p>
        </p:txBody>
      </p:sp>
      <p:sp>
        <p:nvSpPr>
          <p:cNvPr id="15" name="Professor Albert Einstein June 23, 2018">
            <a:extLst>
              <a:ext uri="{FF2B5EF4-FFF2-40B4-BE49-F238E27FC236}">
                <a16:creationId xmlns:a16="http://schemas.microsoft.com/office/drawing/2014/main" id="{8D0368D4-7965-DD40-8125-65C0E88E85E3}"/>
              </a:ext>
            </a:extLst>
          </p:cNvPr>
          <p:cNvSpPr/>
          <p:nvPr/>
        </p:nvSpPr>
        <p:spPr>
          <a:xfrm>
            <a:off x="1358027" y="3690941"/>
            <a:ext cx="7658348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E87731"/>
                </a:solidFill>
                <a:latin typeface="Gineso Cond Thin"/>
                <a:ea typeface="Gineso Cond Thin"/>
                <a:cs typeface="Gineso Cond Thin"/>
                <a:sym typeface="Gineso Cond Thin"/>
              </a:defRPr>
            </a:pPr>
            <a:r>
              <a:rPr kumimoji="0" lang="en-US" sz="3000" b="0" i="0" u="none" strike="noStrike" kern="0" cap="all" spc="300" normalizeH="0" baseline="0" noProof="0" dirty="0">
                <a:ln>
                  <a:noFill/>
                </a:ln>
                <a:solidFill>
                  <a:srgbClr val="E87731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Ross </a:t>
            </a:r>
            <a:r>
              <a:rPr kumimoji="0" lang="en-US" sz="3000" b="0" i="0" u="none" strike="noStrike" kern="0" cap="all" spc="300" normalizeH="0" baseline="0" noProof="0" dirty="0" err="1">
                <a:ln>
                  <a:noFill/>
                </a:ln>
                <a:solidFill>
                  <a:srgbClr val="E87731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Fantus</a:t>
            </a:r>
            <a:r>
              <a:rPr kumimoji="0" lang="en-US" sz="3000" b="0" i="0" u="none" strike="noStrike" kern="0" cap="all" spc="300" normalizeH="0" baseline="0" noProof="0" dirty="0">
                <a:ln>
                  <a:noFill/>
                </a:ln>
                <a:solidFill>
                  <a:srgbClr val="E87731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 Williams</a:t>
            </a:r>
          </a:p>
        </p:txBody>
      </p:sp>
      <p:sp>
        <p:nvSpPr>
          <p:cNvPr id="16" name="Professor Albert Einstein June 23, 2018">
            <a:extLst>
              <a:ext uri="{FF2B5EF4-FFF2-40B4-BE49-F238E27FC236}">
                <a16:creationId xmlns:a16="http://schemas.microsoft.com/office/drawing/2014/main" id="{5527AB94-C69B-2D43-9FA0-5F33D3D7F99A}"/>
              </a:ext>
            </a:extLst>
          </p:cNvPr>
          <p:cNvSpPr/>
          <p:nvPr/>
        </p:nvSpPr>
        <p:spPr>
          <a:xfrm>
            <a:off x="1358026" y="4363602"/>
            <a:ext cx="7658349" cy="47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E87731"/>
                </a:solidFill>
                <a:latin typeface="Gineso Cond Thin"/>
                <a:ea typeface="Gineso Cond Thin"/>
                <a:cs typeface="Gineso Cond Thin"/>
                <a:sym typeface="Gineso Cond Thin"/>
              </a:defRPr>
            </a:pPr>
            <a:r>
              <a:rPr lang="en-US" sz="2500" kern="0" cap="all" spc="300" dirty="0">
                <a:solidFill>
                  <a:srgbClr val="FFFFFF"/>
                </a:solidFill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November 1st</a:t>
            </a:r>
            <a:r>
              <a:rPr kumimoji="0" lang="en-US" sz="2500" b="0" i="0" u="none" strike="noStrike" kern="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, 2023, Preliminary Exam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3F740-704B-1B44-AA0F-484587FE6C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648" y="1548557"/>
            <a:ext cx="2606041" cy="13716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3A7151A-15F9-0102-391E-D312A1964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452" y="4244939"/>
            <a:ext cx="2952750" cy="61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92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Timeline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06064-DE4C-897D-BBCE-C4E41CD2A26C}"/>
              </a:ext>
            </a:extLst>
          </p:cNvPr>
          <p:cNvGrpSpPr/>
          <p:nvPr/>
        </p:nvGrpSpPr>
        <p:grpSpPr>
          <a:xfrm>
            <a:off x="302319" y="2628282"/>
            <a:ext cx="3084716" cy="2633342"/>
            <a:chOff x="302319" y="2628282"/>
            <a:chExt cx="3084716" cy="263334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2782D19-0FC3-8DAD-C684-6D398F11B9E1}"/>
                </a:ext>
              </a:extLst>
            </p:cNvPr>
            <p:cNvSpPr txBox="1"/>
            <p:nvPr/>
          </p:nvSpPr>
          <p:spPr>
            <a:xfrm>
              <a:off x="302319" y="4061297"/>
              <a:ext cx="3084716" cy="1200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generative agent-based modeling?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70B301-1A12-5D51-70E3-613C771C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179" y="2628282"/>
              <a:ext cx="2986856" cy="113612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422F520-1C05-CB69-9392-F5F5F6CCB9E6}"/>
              </a:ext>
            </a:extLst>
          </p:cNvPr>
          <p:cNvGrpSpPr/>
          <p:nvPr/>
        </p:nvGrpSpPr>
        <p:grpSpPr>
          <a:xfrm>
            <a:off x="3976295" y="1213728"/>
            <a:ext cx="3711196" cy="3726109"/>
            <a:chOff x="3976295" y="1213728"/>
            <a:chExt cx="3711196" cy="372610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E259E7-DA1A-E5F3-542C-E8F69F7AE4B0}"/>
                </a:ext>
              </a:extLst>
            </p:cNvPr>
            <p:cNvSpPr txBox="1"/>
            <p:nvPr/>
          </p:nvSpPr>
          <p:spPr>
            <a:xfrm>
              <a:off x="4185679" y="4108842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Our generative agent epidemic model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30E28-59D6-D7D3-627E-D8EF9CC9E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6295" y="1213728"/>
              <a:ext cx="3711196" cy="2550679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089CB-D920-C4B9-613E-E204323CB338}"/>
              </a:ext>
            </a:extLst>
          </p:cNvPr>
          <p:cNvGrpSpPr/>
          <p:nvPr/>
        </p:nvGrpSpPr>
        <p:grpSpPr>
          <a:xfrm>
            <a:off x="8026447" y="1340845"/>
            <a:ext cx="3976320" cy="3596734"/>
            <a:chOff x="8026447" y="1340845"/>
            <a:chExt cx="3976320" cy="35967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92A84E-B4AC-A45E-6737-40616C5E1E24}"/>
                </a:ext>
              </a:extLst>
            </p:cNvPr>
            <p:cNvSpPr txBox="1"/>
            <p:nvPr/>
          </p:nvSpPr>
          <p:spPr>
            <a:xfrm>
              <a:off x="8537660" y="4106584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prompt sensitivity analysis?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8267E3-6C17-B138-C0C8-B5FF83089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6447" y="1340845"/>
              <a:ext cx="3976320" cy="2423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102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Generative Agent-Based Modeling?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3BD8C-8245-53B1-3798-2658D2678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7940"/>
            <a:ext cx="12192000" cy="485075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F6849B8-ACBC-1F22-8027-0CB80CB54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70" y="-11669977"/>
            <a:ext cx="6389630" cy="2409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49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What is ChatGPT?">
            <a:extLst>
              <a:ext uri="{FF2B5EF4-FFF2-40B4-BE49-F238E27FC236}">
                <a16:creationId xmlns:a16="http://schemas.microsoft.com/office/drawing/2014/main" id="{08B946AC-D71F-52B0-EDBC-08EA0CB39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7" y="3180522"/>
            <a:ext cx="1189099" cy="66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99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Background of Generative Agents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23AAE7-2FA3-905B-1AC7-9512857FA7AD}"/>
              </a:ext>
            </a:extLst>
          </p:cNvPr>
          <p:cNvGrpSpPr/>
          <p:nvPr/>
        </p:nvGrpSpPr>
        <p:grpSpPr>
          <a:xfrm>
            <a:off x="9528983" y="3649696"/>
            <a:ext cx="2663017" cy="1257531"/>
            <a:chOff x="0" y="1277940"/>
            <a:chExt cx="12192000" cy="48507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33BD8C-8245-53B1-3798-2658D2678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277940"/>
              <a:ext cx="12192000" cy="4850755"/>
            </a:xfrm>
            <a:prstGeom prst="rect">
              <a:avLst/>
            </a:prstGeom>
          </p:spPr>
        </p:pic>
        <p:pic>
          <p:nvPicPr>
            <p:cNvPr id="1028" name="Picture 4" descr="What is ChatGPT?">
              <a:extLst>
                <a:ext uri="{FF2B5EF4-FFF2-40B4-BE49-F238E27FC236}">
                  <a16:creationId xmlns:a16="http://schemas.microsoft.com/office/drawing/2014/main" id="{08B946AC-D71F-52B0-EDBC-08EA0CB390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927" y="3180522"/>
              <a:ext cx="1189099" cy="665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6593268-2AF8-44C1-BEAC-EF229FA1769A}"/>
              </a:ext>
            </a:extLst>
          </p:cNvPr>
          <p:cNvSpPr txBox="1"/>
          <p:nvPr/>
        </p:nvSpPr>
        <p:spPr>
          <a:xfrm>
            <a:off x="627676" y="1150477"/>
            <a:ext cx="8945284" cy="54168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Prompt-Response models: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Kahneman tests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Binz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M., &amp; Schulz, E. (2023). Using cognitive psychology to understand GPT-3. Proceedings of the National Academy of Sciences, 120(6), e2218523120.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Kahneman tests: 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Horton, J. J. (2023). Large language models as simulated economic agents: What can we learn from homo </a:t>
            </a:r>
            <a:r>
              <a:rPr lang="en-US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silicus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 (No. w31122). National Bureau of Economic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Big Five Traits: 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Jiang, H., Zhang, X., Cao, X., </a:t>
            </a:r>
            <a:r>
              <a:rPr lang="en-US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Kabbara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J., &amp; Roy, D. (2023). </a:t>
            </a:r>
            <a:r>
              <a:rPr lang="en-US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Personallm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Investigating the ability of gpt-3.5 to express personality traits and gender differences. </a:t>
            </a:r>
            <a:r>
              <a:rPr lang="en-US" sz="14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preprint arXiv:2305.02547.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endParaRPr lang="en-US" sz="1200" kern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r>
              <a:rPr lang="en-US" sz="2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Dynamic Models: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Tacit Collusion Model: 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Han, X., Wu, Z., &amp; Xiao, C. (2023). “ Guinea Pig Trials” Utilizing GPT: A Novel Smart Agent-Based Modeling Approach for Studying Firm Competition and Collusion.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arXiv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preprint arXiv:2308.10974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Information Diffusion Model: 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Park, J. S., O’Brien, J. C., Cai, C. J., Morris, M. R., Liang, P., &amp; Bernstein, M. S. (2023). Generative agents: Interactive simulacra of human behavior.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arXiv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preprint arXiv:2304.03442.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Epidemic Model: 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Williams, R.,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Hosseinichimeh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, N., Majumdar, A., &amp;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Ghaffarzadegan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, N. (2023). Epidemic Modeling with Generative Agents.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arXiv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preprint arXiv:2307.04986.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Prisoner’s Dilemma &amp; Battles of the Sexes: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Akata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, E., Schulz, L., Coda-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Forno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, J., Oh, S. J.,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Bethge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, M., &amp; Schulz, E. (2023). Playing repeated games with Large Language Models.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arXiv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preprint arXiv:2305.16867.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Prisoner’s Dilemma: 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Phelps, S., &amp; Russell, Y. I. (2023). Investigating emergent goal-like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behaviour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in large language models using experimental economics. </a:t>
            </a:r>
            <a:r>
              <a:rPr lang="en-US" sz="1400" kern="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arXiv</a:t>
            </a:r>
            <a:r>
              <a:rPr lang="en-US" sz="14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preprint arXiv:2305.07970.</a:t>
            </a:r>
          </a:p>
          <a:p>
            <a:endParaRPr lang="en-US" sz="1200" kern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endParaRPr lang="en-US" sz="1200" kern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1200" kern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DC4D5-68DB-A988-3E38-C7746CFDEDF8}"/>
              </a:ext>
            </a:extLst>
          </p:cNvPr>
          <p:cNvSpPr txBox="1"/>
          <p:nvPr/>
        </p:nvSpPr>
        <p:spPr>
          <a:xfrm>
            <a:off x="627676" y="6139029"/>
            <a:ext cx="721457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b="1" kern="0" dirty="0"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Variation between models: </a:t>
            </a:r>
            <a:r>
              <a:rPr lang="en-US" sz="1800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Memory, How mechanistic is the model, Level of Dynamics, Application (modeling, task-oriented…), Personas</a:t>
            </a:r>
          </a:p>
        </p:txBody>
      </p:sp>
    </p:spTree>
    <p:extLst>
      <p:ext uri="{BB962C8B-B14F-4D97-AF65-F5344CB8AC3E}">
        <p14:creationId xmlns:p14="http://schemas.microsoft.com/office/powerpoint/2010/main" val="428912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Summary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06064-DE4C-897D-BBCE-C4E41CD2A26C}"/>
              </a:ext>
            </a:extLst>
          </p:cNvPr>
          <p:cNvGrpSpPr/>
          <p:nvPr/>
        </p:nvGrpSpPr>
        <p:grpSpPr>
          <a:xfrm>
            <a:off x="302319" y="2628282"/>
            <a:ext cx="3084716" cy="2633342"/>
            <a:chOff x="302319" y="2628282"/>
            <a:chExt cx="3084716" cy="263334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2782D19-0FC3-8DAD-C684-6D398F11B9E1}"/>
                </a:ext>
              </a:extLst>
            </p:cNvPr>
            <p:cNvSpPr txBox="1"/>
            <p:nvPr/>
          </p:nvSpPr>
          <p:spPr>
            <a:xfrm>
              <a:off x="302319" y="4061297"/>
              <a:ext cx="3084716" cy="1200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generative agent-based modeling?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70B301-1A12-5D51-70E3-613C771C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179" y="2628282"/>
              <a:ext cx="2986856" cy="113612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422F520-1C05-CB69-9392-F5F5F6CCB9E6}"/>
              </a:ext>
            </a:extLst>
          </p:cNvPr>
          <p:cNvGrpSpPr/>
          <p:nvPr/>
        </p:nvGrpSpPr>
        <p:grpSpPr>
          <a:xfrm>
            <a:off x="3976295" y="1213728"/>
            <a:ext cx="3711196" cy="3726109"/>
            <a:chOff x="3976295" y="1213728"/>
            <a:chExt cx="3711196" cy="372610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E259E7-DA1A-E5F3-542C-E8F69F7AE4B0}"/>
                </a:ext>
              </a:extLst>
            </p:cNvPr>
            <p:cNvSpPr txBox="1"/>
            <p:nvPr/>
          </p:nvSpPr>
          <p:spPr>
            <a:xfrm>
              <a:off x="4185679" y="4108842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Our generative agent epidemic model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30E28-59D6-D7D3-627E-D8EF9CC9E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6295" y="1213728"/>
              <a:ext cx="3711196" cy="2550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020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our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enerative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agent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pidemic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model?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3BD8C-8245-53B1-3798-2658D2678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406" y="2655124"/>
            <a:ext cx="3890156" cy="1547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5A16C-8B5C-1402-3E39-CA9EFABAB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179" y="1063434"/>
            <a:ext cx="7428497" cy="50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8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5A16C-8B5C-1402-3E39-CA9EFABAB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516" y="849951"/>
            <a:ext cx="3869484" cy="26115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16F746-3715-581A-13C8-21A2C5A19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76" y="3583589"/>
            <a:ext cx="5965164" cy="3092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AAB68B-43BE-5B17-938C-9C978A06B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7587" y="849951"/>
            <a:ext cx="3991330" cy="5821724"/>
          </a:xfrm>
          <a:prstGeom prst="rect">
            <a:avLst/>
          </a:prstGeom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Prompt for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enerative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agent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pidemic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32185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Agents are sensitive to societal &amp; self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health 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DC9C9-D70C-C9FA-8EB3-7838CEF8B4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321"/>
          <a:stretch/>
        </p:blipFill>
        <p:spPr>
          <a:xfrm>
            <a:off x="400179" y="932748"/>
            <a:ext cx="5898453" cy="28874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572B37-A367-C964-F1E3-BD806F4AE0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3321"/>
          <a:stretch/>
        </p:blipFill>
        <p:spPr>
          <a:xfrm>
            <a:off x="6298632" y="932748"/>
            <a:ext cx="5691116" cy="28046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D2D309-C315-8891-28AF-47359446D850}"/>
              </a:ext>
            </a:extLst>
          </p:cNvPr>
          <p:cNvSpPr txBox="1"/>
          <p:nvPr/>
        </p:nvSpPr>
        <p:spPr>
          <a:xfrm>
            <a:off x="10071100" y="296936"/>
            <a:ext cx="2014182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10 runs, 80% CI</a:t>
            </a:r>
            <a:endParaRPr lang="en-US" sz="2000" dirty="0">
              <a:solidFill>
                <a:schemeClr val="accent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6FB489-2E9C-A5A4-96CC-D783DA5A0DEF}"/>
              </a:ext>
            </a:extLst>
          </p:cNvPr>
          <p:cNvGrpSpPr/>
          <p:nvPr/>
        </p:nvGrpSpPr>
        <p:grpSpPr>
          <a:xfrm>
            <a:off x="5671468" y="3820221"/>
            <a:ext cx="6520532" cy="3092021"/>
            <a:chOff x="0" y="3879121"/>
            <a:chExt cx="7103660" cy="310853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B8D7472-D396-CC0C-F90D-E13FD5F9AB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43750"/>
            <a:stretch/>
          </p:blipFill>
          <p:spPr>
            <a:xfrm>
              <a:off x="0" y="3879121"/>
              <a:ext cx="6858000" cy="297887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4CC7AA-9A86-6A07-D9B0-623D74BAE74F}"/>
                </a:ext>
              </a:extLst>
            </p:cNvPr>
            <p:cNvSpPr/>
            <p:nvPr/>
          </p:nvSpPr>
          <p:spPr>
            <a:xfrm>
              <a:off x="5738884" y="4128447"/>
              <a:ext cx="1364776" cy="2859206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rIns="45719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8D9E2AB1-0FBD-A268-21FC-62FD5E39E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245" y="3903018"/>
            <a:ext cx="5195155" cy="267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5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Agents exhibited heterogenous risk-tolerance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43CD4A-C370-4F4C-DE3C-F668BCDC6953}"/>
              </a:ext>
            </a:extLst>
          </p:cNvPr>
          <p:cNvSpPr txBox="1"/>
          <p:nvPr/>
        </p:nvSpPr>
        <p:spPr>
          <a:xfrm>
            <a:off x="3634731" y="887084"/>
            <a:ext cx="312546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1000 Agents, full feedback, 1 run</a:t>
            </a:r>
            <a:endParaRPr lang="en-US" sz="2000" dirty="0">
              <a:solidFill>
                <a:schemeClr val="accent2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2E36D8-238F-D70E-7116-90C698EEBF32}"/>
              </a:ext>
            </a:extLst>
          </p:cNvPr>
          <p:cNvGrpSpPr/>
          <p:nvPr/>
        </p:nvGrpSpPr>
        <p:grpSpPr>
          <a:xfrm>
            <a:off x="5671468" y="3820221"/>
            <a:ext cx="6520532" cy="3092021"/>
            <a:chOff x="0" y="3879121"/>
            <a:chExt cx="7103660" cy="310853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CAC931D-7211-1B50-971B-93C17EFD74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43750"/>
            <a:stretch/>
          </p:blipFill>
          <p:spPr>
            <a:xfrm>
              <a:off x="0" y="3879121"/>
              <a:ext cx="6858000" cy="2978879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D26F35-2CD7-2E3B-7802-873A65F7381F}"/>
                </a:ext>
              </a:extLst>
            </p:cNvPr>
            <p:cNvSpPr/>
            <p:nvPr/>
          </p:nvSpPr>
          <p:spPr>
            <a:xfrm>
              <a:off x="5738884" y="4128447"/>
              <a:ext cx="1364776" cy="2859206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rIns="45719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24717EEF-F020-0D73-FD48-9F42E3F62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45" y="3903018"/>
            <a:ext cx="5195155" cy="267133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4E14AF8-87A5-E7C7-EADB-BEE47B7DF13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756" t="49793" r="1"/>
          <a:stretch/>
        </p:blipFill>
        <p:spPr>
          <a:xfrm>
            <a:off x="400179" y="821313"/>
            <a:ext cx="3649424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1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Timeline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06064-DE4C-897D-BBCE-C4E41CD2A26C}"/>
              </a:ext>
            </a:extLst>
          </p:cNvPr>
          <p:cNvGrpSpPr/>
          <p:nvPr/>
        </p:nvGrpSpPr>
        <p:grpSpPr>
          <a:xfrm>
            <a:off x="302319" y="2628282"/>
            <a:ext cx="3084716" cy="2633342"/>
            <a:chOff x="302319" y="2628282"/>
            <a:chExt cx="3084716" cy="263334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2782D19-0FC3-8DAD-C684-6D398F11B9E1}"/>
                </a:ext>
              </a:extLst>
            </p:cNvPr>
            <p:cNvSpPr txBox="1"/>
            <p:nvPr/>
          </p:nvSpPr>
          <p:spPr>
            <a:xfrm>
              <a:off x="302319" y="4061297"/>
              <a:ext cx="3084716" cy="1200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generative agent-based modeling?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70B301-1A12-5D51-70E3-613C771C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179" y="2628282"/>
              <a:ext cx="2986856" cy="113612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422F520-1C05-CB69-9392-F5F5F6CCB9E6}"/>
              </a:ext>
            </a:extLst>
          </p:cNvPr>
          <p:cNvGrpSpPr/>
          <p:nvPr/>
        </p:nvGrpSpPr>
        <p:grpSpPr>
          <a:xfrm>
            <a:off x="3976295" y="1213728"/>
            <a:ext cx="3711196" cy="3726109"/>
            <a:chOff x="3976295" y="1213728"/>
            <a:chExt cx="3711196" cy="372610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E259E7-DA1A-E5F3-542C-E8F69F7AE4B0}"/>
                </a:ext>
              </a:extLst>
            </p:cNvPr>
            <p:cNvSpPr txBox="1"/>
            <p:nvPr/>
          </p:nvSpPr>
          <p:spPr>
            <a:xfrm>
              <a:off x="4185679" y="4108842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Our generative agent epidemic model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30E28-59D6-D7D3-627E-D8EF9CC9E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6295" y="1213728"/>
              <a:ext cx="3711196" cy="2550679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089CB-D920-C4B9-613E-E204323CB338}"/>
              </a:ext>
            </a:extLst>
          </p:cNvPr>
          <p:cNvGrpSpPr/>
          <p:nvPr/>
        </p:nvGrpSpPr>
        <p:grpSpPr>
          <a:xfrm>
            <a:off x="8026447" y="1340845"/>
            <a:ext cx="3976320" cy="3596734"/>
            <a:chOff x="8026447" y="1340845"/>
            <a:chExt cx="3976320" cy="35967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92A84E-B4AC-A45E-6737-40616C5E1E24}"/>
                </a:ext>
              </a:extLst>
            </p:cNvPr>
            <p:cNvSpPr txBox="1"/>
            <p:nvPr/>
          </p:nvSpPr>
          <p:spPr>
            <a:xfrm>
              <a:off x="8537660" y="4106584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prompt sensitivity analysis?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8267E3-6C17-B138-C0C8-B5FF83089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6447" y="1340845"/>
              <a:ext cx="3976320" cy="2423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350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215336"/>
            <a:ext cx="11564324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Prompt sensitivity analysis explores the robustness of the model to prompt changes</a:t>
            </a:r>
          </a:p>
        </p:txBody>
      </p:sp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6618B8-C628-8B63-0055-06081B44D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76" y="1294859"/>
            <a:ext cx="3218057" cy="2171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4BA0F-3457-7660-22C1-A78B44AFA0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31" t="1458" r="2723" b="65839"/>
          <a:stretch/>
        </p:blipFill>
        <p:spPr>
          <a:xfrm>
            <a:off x="4172908" y="1294859"/>
            <a:ext cx="3923628" cy="19795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8B733E-2220-B1A3-C1B7-F0E5AF62C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12" y="3759692"/>
            <a:ext cx="5599160" cy="288297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AD77186-5A5D-9CAD-B9F6-4CF59B66E0FC}"/>
              </a:ext>
            </a:extLst>
          </p:cNvPr>
          <p:cNvGrpSpPr/>
          <p:nvPr/>
        </p:nvGrpSpPr>
        <p:grpSpPr>
          <a:xfrm>
            <a:off x="8423711" y="1249786"/>
            <a:ext cx="3565848" cy="1848522"/>
            <a:chOff x="859373" y="2252252"/>
            <a:chExt cx="5472971" cy="2948926"/>
          </a:xfrm>
        </p:grpSpPr>
        <p:pic>
          <p:nvPicPr>
            <p:cNvPr id="30722" name="Picture 2" descr="Video] Tipping Point Analysis in Multiple Imputation for Binary Missing Data">
              <a:extLst>
                <a:ext uri="{FF2B5EF4-FFF2-40B4-BE49-F238E27FC236}">
                  <a16:creationId xmlns:a16="http://schemas.microsoft.com/office/drawing/2014/main" id="{45C1D157-045D-A063-3523-37ECF6E378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57" t="20140" r="14476" b="18549"/>
            <a:stretch/>
          </p:blipFill>
          <p:spPr bwMode="auto">
            <a:xfrm>
              <a:off x="859373" y="2520655"/>
              <a:ext cx="5377218" cy="2680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B2E2845-BC0C-D8EA-2BC3-0DEE1205E162}"/>
                </a:ext>
              </a:extLst>
            </p:cNvPr>
            <p:cNvSpPr/>
            <p:nvPr/>
          </p:nvSpPr>
          <p:spPr>
            <a:xfrm>
              <a:off x="4251060" y="2252252"/>
              <a:ext cx="2081284" cy="361348"/>
            </a:xfrm>
            <a:prstGeom prst="round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45719" rIns="45719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CCC5EE8-84FA-F354-C072-9A4D1B0BDD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927" y="3769694"/>
            <a:ext cx="5625424" cy="29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4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6618B8-C628-8B63-0055-06081B44D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76" y="1294859"/>
            <a:ext cx="3218057" cy="2171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4BA0F-3457-7660-22C1-A78B44AFA0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31" t="1458" r="2723" b="65839"/>
          <a:stretch/>
        </p:blipFill>
        <p:spPr>
          <a:xfrm>
            <a:off x="4172908" y="1294859"/>
            <a:ext cx="3923628" cy="197955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AD77186-5A5D-9CAD-B9F6-4CF59B66E0FC}"/>
              </a:ext>
            </a:extLst>
          </p:cNvPr>
          <p:cNvGrpSpPr/>
          <p:nvPr/>
        </p:nvGrpSpPr>
        <p:grpSpPr>
          <a:xfrm>
            <a:off x="8423711" y="1249786"/>
            <a:ext cx="3565848" cy="1848522"/>
            <a:chOff x="859373" y="2252252"/>
            <a:chExt cx="5472971" cy="2948926"/>
          </a:xfrm>
        </p:grpSpPr>
        <p:pic>
          <p:nvPicPr>
            <p:cNvPr id="30722" name="Picture 2" descr="Video] Tipping Point Analysis in Multiple Imputation for Binary Missing Data">
              <a:extLst>
                <a:ext uri="{FF2B5EF4-FFF2-40B4-BE49-F238E27FC236}">
                  <a16:creationId xmlns:a16="http://schemas.microsoft.com/office/drawing/2014/main" id="{45C1D157-045D-A063-3523-37ECF6E378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57" t="20140" r="14476" b="18549"/>
            <a:stretch/>
          </p:blipFill>
          <p:spPr bwMode="auto">
            <a:xfrm>
              <a:off x="859373" y="2520655"/>
              <a:ext cx="5377218" cy="2680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B2E2845-BC0C-D8EA-2BC3-0DEE1205E162}"/>
                </a:ext>
              </a:extLst>
            </p:cNvPr>
            <p:cNvSpPr/>
            <p:nvPr/>
          </p:nvSpPr>
          <p:spPr>
            <a:xfrm>
              <a:off x="4251060" y="2252252"/>
              <a:ext cx="2081284" cy="361348"/>
            </a:xfrm>
            <a:prstGeom prst="round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45719" rIns="45719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DA93BBD-7266-448A-D40C-50B87DC38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76" y="3583589"/>
            <a:ext cx="5965164" cy="3092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1D9829-92DE-C55D-FD4C-45DA632291F8}"/>
              </a:ext>
            </a:extLst>
          </p:cNvPr>
          <p:cNvSpPr txBox="1"/>
          <p:nvPr/>
        </p:nvSpPr>
        <p:spPr>
          <a:xfrm>
            <a:off x="6592840" y="3859791"/>
            <a:ext cx="5599160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hangingPunct="0">
              <a:buFontTx/>
              <a:buAutoNum type="arabicPeriod"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rPr>
              <a:t>Are agents’ actions sensitive to synonymous phrases?</a:t>
            </a:r>
          </a:p>
          <a:p>
            <a:pPr marL="342900" indent="-342900" hangingPunct="0">
              <a:buFontTx/>
              <a:buAutoNum type="arabicPeriod"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rPr>
              <a:t>Are agents’ actions sensitive to nonsynonymous phrases?</a:t>
            </a:r>
          </a:p>
          <a:p>
            <a:pPr marL="342900" indent="-342900" hangingPunct="0">
              <a:buFontTx/>
              <a:buAutoNum type="arabicPeriod"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rPr>
              <a:t>Are agents’ actions sensitive to different scenarios?</a:t>
            </a:r>
          </a:p>
          <a:p>
            <a:pPr marL="342900" indent="-342900" hangingPunct="0">
              <a:buFontTx/>
              <a:buAutoNum type="arabicPeriod"/>
            </a:pPr>
            <a:r>
              <a:rPr lang="en-US" sz="2000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rPr>
              <a:t>Are agents’ actions sensitive to different names?</a:t>
            </a:r>
          </a:p>
        </p:txBody>
      </p:sp>
      <p:sp>
        <p:nvSpPr>
          <p:cNvPr id="7" name="MEET OUR TEAM">
            <a:extLst>
              <a:ext uri="{FF2B5EF4-FFF2-40B4-BE49-F238E27FC236}">
                <a16:creationId xmlns:a16="http://schemas.microsoft.com/office/drawing/2014/main" id="{E161EBC0-FDA9-8AFE-2C0D-52804E77A853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questions for prompt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331911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D65B4A5-B0F5-4575-E4A1-D2799B789A43}"/>
              </a:ext>
            </a:extLst>
          </p:cNvPr>
          <p:cNvGrpSpPr/>
          <p:nvPr/>
        </p:nvGrpSpPr>
        <p:grpSpPr>
          <a:xfrm>
            <a:off x="277157" y="2737449"/>
            <a:ext cx="7548583" cy="4006707"/>
            <a:chOff x="277157" y="2737449"/>
            <a:chExt cx="7548583" cy="400670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A8B8054-2490-A2DA-877E-12CE6519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157" y="2737449"/>
              <a:ext cx="7537370" cy="400670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DDF14E-E933-678B-B421-A359F8935AFE}"/>
                </a:ext>
              </a:extLst>
            </p:cNvPr>
            <p:cNvSpPr txBox="1"/>
            <p:nvPr/>
          </p:nvSpPr>
          <p:spPr>
            <a:xfrm>
              <a:off x="7013236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FBB4F6-06F3-B3AB-0729-FEF8C01B246B}"/>
                </a:ext>
              </a:extLst>
            </p:cNvPr>
            <p:cNvSpPr txBox="1"/>
            <p:nvPr/>
          </p:nvSpPr>
          <p:spPr>
            <a:xfrm>
              <a:off x="3097975" y="475003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</p:grpSp>
      <p:sp>
        <p:nvSpPr>
          <p:cNvPr id="28" name="MEET OUR TEAM">
            <a:extLst>
              <a:ext uri="{FF2B5EF4-FFF2-40B4-BE49-F238E27FC236}">
                <a16:creationId xmlns:a16="http://schemas.microsoft.com/office/drawing/2014/main" id="{72DF2E35-FB5F-9A83-507C-69C6F6CCF579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Synonymous and nonsynonymous prompt variations</a:t>
            </a:r>
          </a:p>
        </p:txBody>
      </p:sp>
    </p:spTree>
    <p:extLst>
      <p:ext uri="{BB962C8B-B14F-4D97-AF65-F5344CB8AC3E}">
        <p14:creationId xmlns:p14="http://schemas.microsoft.com/office/powerpoint/2010/main" val="247542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306724-B0C3-32A5-9539-3E5468A58F4A}"/>
              </a:ext>
            </a:extLst>
          </p:cNvPr>
          <p:cNvGrpSpPr/>
          <p:nvPr/>
        </p:nvGrpSpPr>
        <p:grpSpPr>
          <a:xfrm>
            <a:off x="277157" y="2737449"/>
            <a:ext cx="7548583" cy="4006707"/>
            <a:chOff x="277157" y="2737449"/>
            <a:chExt cx="7548583" cy="40067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88367A-E8A7-A390-E02F-E87310A1C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157" y="2737449"/>
              <a:ext cx="7537370" cy="400670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4F0F63-9A64-D5A9-B7A8-5AC427350804}"/>
                </a:ext>
              </a:extLst>
            </p:cNvPr>
            <p:cNvSpPr txBox="1"/>
            <p:nvPr/>
          </p:nvSpPr>
          <p:spPr>
            <a:xfrm>
              <a:off x="7013236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B406F3-C9BB-DDBE-9627-2CA9E9118DA0}"/>
                </a:ext>
              </a:extLst>
            </p:cNvPr>
            <p:cNvSpPr txBox="1"/>
            <p:nvPr/>
          </p:nvSpPr>
          <p:spPr>
            <a:xfrm>
              <a:off x="3097975" y="475003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</p:grpSp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Changing the scenario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E640DE-55BA-9D71-4A94-2BDD53C1F7F7}"/>
              </a:ext>
            </a:extLst>
          </p:cNvPr>
          <p:cNvGrpSpPr/>
          <p:nvPr/>
        </p:nvGrpSpPr>
        <p:grpSpPr>
          <a:xfrm>
            <a:off x="3910479" y="4750032"/>
            <a:ext cx="3939324" cy="2037908"/>
            <a:chOff x="3889612" y="4726576"/>
            <a:chExt cx="3939324" cy="2037908"/>
          </a:xfrm>
        </p:grpSpPr>
        <p:pic>
          <p:nvPicPr>
            <p:cNvPr id="10" name="Picture 9" descr="A group of white cards with black text&#10;&#10;Description automatically generated">
              <a:extLst>
                <a:ext uri="{FF2B5EF4-FFF2-40B4-BE49-F238E27FC236}">
                  <a16:creationId xmlns:a16="http://schemas.microsoft.com/office/drawing/2014/main" id="{79E8CA6A-2998-AEF2-243E-6040E0412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7783" t="49418"/>
            <a:stretch/>
          </p:blipFill>
          <p:spPr>
            <a:xfrm>
              <a:off x="3889612" y="4726576"/>
              <a:ext cx="3939324" cy="203790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2AD667-01C8-5BF4-5D28-127D08208B6A}"/>
                </a:ext>
              </a:extLst>
            </p:cNvPr>
            <p:cNvSpPr txBox="1"/>
            <p:nvPr/>
          </p:nvSpPr>
          <p:spPr>
            <a:xfrm>
              <a:off x="6992369" y="4764339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(2)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17489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Different agents’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E6F338-E097-260B-1E44-25CC44EB0611}"/>
              </a:ext>
            </a:extLst>
          </p:cNvPr>
          <p:cNvGrpSpPr/>
          <p:nvPr/>
        </p:nvGrpSpPr>
        <p:grpSpPr>
          <a:xfrm>
            <a:off x="7803679" y="2735579"/>
            <a:ext cx="4245313" cy="4028905"/>
            <a:chOff x="7803679" y="2735579"/>
            <a:chExt cx="4245313" cy="4028905"/>
          </a:xfrm>
        </p:grpSpPr>
        <p:pic>
          <p:nvPicPr>
            <p:cNvPr id="9220" name="Picture 4" descr="Adobe Character Animator Ryan Puppet on Behance">
              <a:extLst>
                <a:ext uri="{FF2B5EF4-FFF2-40B4-BE49-F238E27FC236}">
                  <a16:creationId xmlns:a16="http://schemas.microsoft.com/office/drawing/2014/main" id="{E77EE326-4775-57E3-F435-514201FE1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79" y="2735579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2" name="Picture 6" descr="Adobe Character Animator Debbie Puppet on Behance">
              <a:extLst>
                <a:ext uri="{FF2B5EF4-FFF2-40B4-BE49-F238E27FC236}">
                  <a16:creationId xmlns:a16="http://schemas.microsoft.com/office/drawing/2014/main" id="{D99040A8-1EF0-550D-4DE6-6FAE3F0C19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81" y="4712713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E808F2-B426-9C2F-93B6-6F4E44F47647}"/>
                </a:ext>
              </a:extLst>
            </p:cNvPr>
            <p:cNvSpPr txBox="1"/>
            <p:nvPr/>
          </p:nvSpPr>
          <p:spPr>
            <a:xfrm>
              <a:off x="11236488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820CFB-38D4-5974-F0D0-3E5F15D24F92}"/>
                </a:ext>
              </a:extLst>
            </p:cNvPr>
            <p:cNvSpPr txBox="1"/>
            <p:nvPr/>
          </p:nvSpPr>
          <p:spPr>
            <a:xfrm>
              <a:off x="11236488" y="4778599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2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Methodology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E6F338-E097-260B-1E44-25CC44EB0611}"/>
              </a:ext>
            </a:extLst>
          </p:cNvPr>
          <p:cNvGrpSpPr/>
          <p:nvPr/>
        </p:nvGrpSpPr>
        <p:grpSpPr>
          <a:xfrm>
            <a:off x="7803679" y="2735579"/>
            <a:ext cx="4245313" cy="4028905"/>
            <a:chOff x="7803679" y="2735579"/>
            <a:chExt cx="4245313" cy="4028905"/>
          </a:xfrm>
        </p:grpSpPr>
        <p:pic>
          <p:nvPicPr>
            <p:cNvPr id="9220" name="Picture 4" descr="Adobe Character Animator Ryan Puppet on Behance">
              <a:extLst>
                <a:ext uri="{FF2B5EF4-FFF2-40B4-BE49-F238E27FC236}">
                  <a16:creationId xmlns:a16="http://schemas.microsoft.com/office/drawing/2014/main" id="{E77EE326-4775-57E3-F435-514201FE1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79" y="2735579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2" name="Picture 6" descr="Adobe Character Animator Debbie Puppet on Behance">
              <a:extLst>
                <a:ext uri="{FF2B5EF4-FFF2-40B4-BE49-F238E27FC236}">
                  <a16:creationId xmlns:a16="http://schemas.microsoft.com/office/drawing/2014/main" id="{D99040A8-1EF0-550D-4DE6-6FAE3F0C19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81" y="4712713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E808F2-B426-9C2F-93B6-6F4E44F47647}"/>
                </a:ext>
              </a:extLst>
            </p:cNvPr>
            <p:cNvSpPr txBox="1"/>
            <p:nvPr/>
          </p:nvSpPr>
          <p:spPr>
            <a:xfrm>
              <a:off x="11236488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820CFB-38D4-5974-F0D0-3E5F15D24F92}"/>
                </a:ext>
              </a:extLst>
            </p:cNvPr>
            <p:cNvSpPr txBox="1"/>
            <p:nvPr/>
          </p:nvSpPr>
          <p:spPr>
            <a:xfrm>
              <a:off x="11236488" y="4778599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479F3C-4DA0-A3A8-25F8-E1ADB8309CE5}"/>
              </a:ext>
            </a:extLst>
          </p:cNvPr>
          <p:cNvSpPr txBox="1"/>
          <p:nvPr/>
        </p:nvSpPr>
        <p:spPr>
          <a:xfrm>
            <a:off x="7118350" y="770237"/>
            <a:ext cx="5073650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5 runs, max of 50 time steps, infectivity of 0.1, contact rate of</a:t>
            </a:r>
            <a:r>
              <a:rPr kumimoji="0" lang="en-US" sz="2000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5, days sick is 6, 100 most popular names (50 male and 50 female) as default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6973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61F41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E6F338-E097-260B-1E44-25CC44EB0611}"/>
              </a:ext>
            </a:extLst>
          </p:cNvPr>
          <p:cNvGrpSpPr/>
          <p:nvPr/>
        </p:nvGrpSpPr>
        <p:grpSpPr>
          <a:xfrm>
            <a:off x="7803679" y="2735579"/>
            <a:ext cx="4245313" cy="4028905"/>
            <a:chOff x="7803679" y="2735579"/>
            <a:chExt cx="4245313" cy="4028905"/>
          </a:xfrm>
        </p:grpSpPr>
        <p:pic>
          <p:nvPicPr>
            <p:cNvPr id="9220" name="Picture 4" descr="Adobe Character Animator Ryan Puppet on Behance">
              <a:extLst>
                <a:ext uri="{FF2B5EF4-FFF2-40B4-BE49-F238E27FC236}">
                  <a16:creationId xmlns:a16="http://schemas.microsoft.com/office/drawing/2014/main" id="{E77EE326-4775-57E3-F435-514201FE1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79" y="2735579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2" name="Picture 6" descr="Adobe Character Animator Debbie Puppet on Behance">
              <a:extLst>
                <a:ext uri="{FF2B5EF4-FFF2-40B4-BE49-F238E27FC236}">
                  <a16:creationId xmlns:a16="http://schemas.microsoft.com/office/drawing/2014/main" id="{D99040A8-1EF0-550D-4DE6-6FAE3F0C19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81" y="4712713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E808F2-B426-9C2F-93B6-6F4E44F47647}"/>
                </a:ext>
              </a:extLst>
            </p:cNvPr>
            <p:cNvSpPr txBox="1"/>
            <p:nvPr/>
          </p:nvSpPr>
          <p:spPr>
            <a:xfrm>
              <a:off x="11236488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820CFB-38D4-5974-F0D0-3E5F15D24F92}"/>
                </a:ext>
              </a:extLst>
            </p:cNvPr>
            <p:cNvSpPr txBox="1"/>
            <p:nvPr/>
          </p:nvSpPr>
          <p:spPr>
            <a:xfrm>
              <a:off x="11236488" y="4778599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684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42660C-9A9D-049B-AE1A-8312D48A2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219" y="19305"/>
            <a:ext cx="2878781" cy="1528844"/>
          </a:xfrm>
          <a:prstGeom prst="rect">
            <a:avLst/>
          </a:prstGeom>
        </p:spPr>
      </p:pic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Variation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1753888"/>
            <a:ext cx="3843754" cy="23427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86E1B8-039E-0535-DF11-86861DDDD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8680" y="4092574"/>
            <a:ext cx="3838683" cy="23427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2E58AD-E4C7-0741-B264-4879EF287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" y="4096651"/>
            <a:ext cx="3838684" cy="2334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3975160" y="1759987"/>
                <a:ext cx="6103914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1759987"/>
                <a:ext cx="6103914" cy="276999"/>
              </a:xfrm>
              <a:prstGeom prst="rect">
                <a:avLst/>
              </a:prstGeom>
              <a:blipFill>
                <a:blip r:embed="rId8"/>
                <a:stretch>
                  <a:fillRect l="-899" t="-4444" r="-500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3975160" y="2157389"/>
                <a:ext cx="6279027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Aware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2157389"/>
                <a:ext cx="6279027" cy="276999"/>
              </a:xfrm>
              <a:prstGeom prst="rect">
                <a:avLst/>
              </a:prstGeom>
              <a:blipFill>
                <a:blip r:embed="rId9"/>
                <a:stretch>
                  <a:fillRect l="-777" t="-4444" r="-485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8F7098-55EC-7B4A-4BBD-FB69E2CEEF2A}"/>
              </a:ext>
            </a:extLst>
          </p:cNvPr>
          <p:cNvGrpSpPr/>
          <p:nvPr/>
        </p:nvGrpSpPr>
        <p:grpSpPr>
          <a:xfrm>
            <a:off x="3975160" y="2548642"/>
            <a:ext cx="6138604" cy="674401"/>
            <a:chOff x="3975160" y="2935992"/>
            <a:chExt cx="6138604" cy="674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/>
                <p:nvPr/>
              </p:nvSpPr>
              <p:spPr>
                <a:xfrm>
                  <a:off x="3975160" y="2935992"/>
                  <a:ext cx="6043514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𝑁𝑒𝑤𝐶𝑎𝑠𝑒𝑠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</m:t>
                        </m:r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𝑒𝑤𝐶𝑎𝑠𝑒𝑠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2935992"/>
                  <a:ext cx="6043514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908" t="-4444" r="-605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/>
                <p:nvPr/>
              </p:nvSpPr>
              <p:spPr>
                <a:xfrm>
                  <a:off x="3975160" y="3333394"/>
                  <a:ext cx="6138604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Learn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333394"/>
                  <a:ext cx="613860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894" t="-4444" r="-596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3642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Variation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0293E4-E579-82C4-78CB-2B5C757A2F21}"/>
              </a:ext>
            </a:extLst>
          </p:cNvPr>
          <p:cNvSpPr txBox="1"/>
          <p:nvPr/>
        </p:nvSpPr>
        <p:spPr>
          <a:xfrm>
            <a:off x="627676" y="4419872"/>
            <a:ext cx="5648268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***P&lt;0.000, **P&lt;0.01. *P&lt;0.05</a:t>
            </a:r>
            <a:endParaRPr kumimoji="0" lang="en-US" sz="1600" i="1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ea typeface="+mj-ea"/>
              <a:cs typeface="Calibri"/>
              <a:sym typeface="Calibri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52A834-C276-EBBA-F04C-41F56D581F57}"/>
              </a:ext>
            </a:extLst>
          </p:cNvPr>
          <p:cNvGrpSpPr/>
          <p:nvPr/>
        </p:nvGrpSpPr>
        <p:grpSpPr>
          <a:xfrm>
            <a:off x="9389660" y="161840"/>
            <a:ext cx="2659336" cy="1613579"/>
            <a:chOff x="8517918" y="115896"/>
            <a:chExt cx="3273903" cy="19901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CEEFC5-166C-AC02-2B75-5A10C65BC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7918" y="115896"/>
              <a:ext cx="3262503" cy="199015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EECB91E-9FC2-9CD7-0ED6-517C73815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49169" y="115896"/>
              <a:ext cx="1642652" cy="100962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F63296A-D6E8-00F7-DE82-F77B93D44702}"/>
              </a:ext>
            </a:extLst>
          </p:cNvPr>
          <p:cNvSpPr txBox="1"/>
          <p:nvPr/>
        </p:nvSpPr>
        <p:spPr>
          <a:xfrm>
            <a:off x="627675" y="4727647"/>
            <a:ext cx="8699205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Are agents’ actions sensitive to synonymous phrases?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No</a:t>
            </a:r>
          </a:p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  <a:sym typeface="Calibri"/>
              </a:rPr>
              <a:t>Are agents’ actions sensitive to nonsynonymous phrases? </a:t>
            </a:r>
            <a:r>
              <a:rPr lang="en-US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rPr>
              <a:t>Yes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DF613A48-5FC5-4B77-792E-6B038EF5C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74079"/>
              </p:ext>
            </p:extLst>
          </p:nvPr>
        </p:nvGraphicFramePr>
        <p:xfrm>
          <a:off x="627676" y="1418684"/>
          <a:ext cx="79658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660">
                  <a:extLst>
                    <a:ext uri="{9D8B030D-6E8A-4147-A177-3AD203B41FA5}">
                      <a16:colId xmlns:a16="http://schemas.microsoft.com/office/drawing/2014/main" val="820701274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3715058434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3908031248"/>
                    </a:ext>
                  </a:extLst>
                </a:gridCol>
                <a:gridCol w="1267097">
                  <a:extLst>
                    <a:ext uri="{9D8B030D-6E8A-4147-A177-3AD203B41FA5}">
                      <a16:colId xmlns:a16="http://schemas.microsoft.com/office/drawing/2014/main" val="434091579"/>
                    </a:ext>
                  </a:extLst>
                </a:gridCol>
                <a:gridCol w="1162594">
                  <a:extLst>
                    <a:ext uri="{9D8B030D-6E8A-4147-A177-3AD203B41FA5}">
                      <a16:colId xmlns:a16="http://schemas.microsoft.com/office/drawing/2014/main" val="592120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Experiment Number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Aware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Learn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0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Constant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0.91***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0.91***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0.94***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0.92***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0943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-24.54***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-23.98***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-27.03***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-25.8***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467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</a:t>
                      </a:r>
                      <a:r>
                        <a:rPr lang="en-US" sz="1800" b="0" i="0" u="none" strike="noStrike" cap="none" spc="0" baseline="300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  <a:endParaRPr lang="en-US" sz="18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172.82***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170.69***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196.66***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192.91***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1910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Experiment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-0.015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-0.00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-0.10***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-0.07**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2557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 * Experiment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-0.84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-1.80*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7153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R</a:t>
                      </a:r>
                      <a:r>
                        <a:rPr lang="en-US" sz="1800" b="0" i="0" u="none" strike="noStrike" cap="none" spc="0" baseline="300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  <a:endParaRPr lang="en-US" sz="18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0.75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0.76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408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383 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383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381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381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8162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BFC6CCF-8E78-AD39-3662-759B9A7E2B44}"/>
              </a:ext>
            </a:extLst>
          </p:cNvPr>
          <p:cNvSpPr/>
          <p:nvPr/>
        </p:nvSpPr>
        <p:spPr>
          <a:xfrm>
            <a:off x="8593479" y="3028950"/>
            <a:ext cx="2121219" cy="1162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rtlCol="0" anchor="ctr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B6E7D-ED5C-E669-9AB0-D03D36D0920F}"/>
              </a:ext>
            </a:extLst>
          </p:cNvPr>
          <p:cNvSpPr/>
          <p:nvPr/>
        </p:nvSpPr>
        <p:spPr>
          <a:xfrm>
            <a:off x="627674" y="2908575"/>
            <a:ext cx="7965804" cy="770709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19" rIns="45719" rtlCol="0" anchor="ctr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87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4293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04384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4293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26829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 Shift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753888"/>
            <a:ext cx="3843754" cy="2342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3850715" y="1765699"/>
                <a:ext cx="626710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15" y="1765699"/>
                <a:ext cx="6267100" cy="276999"/>
              </a:xfrm>
              <a:prstGeom prst="rect">
                <a:avLst/>
              </a:prstGeom>
              <a:blipFill>
                <a:blip r:embed="rId5"/>
                <a:stretch>
                  <a:fillRect l="-875" t="-4444" r="-875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3850715" y="2157389"/>
                <a:ext cx="653852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Savings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15" y="2157389"/>
                <a:ext cx="6538520" cy="276999"/>
              </a:xfrm>
              <a:prstGeom prst="rect">
                <a:avLst/>
              </a:prstGeom>
              <a:blipFill>
                <a:blip r:embed="rId6"/>
                <a:stretch>
                  <a:fillRect l="-840" t="-4444" r="-840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DFB804E7-5821-C36D-B3BA-B6EC229DC9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964" y="41967"/>
            <a:ext cx="4157599" cy="110343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B6140E9-C886-63BA-A303-2ED0A572F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" y="4090316"/>
            <a:ext cx="3850717" cy="234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3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 Shift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0DFEE-848B-6F7B-7963-78BB4F40C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477" y="1134634"/>
            <a:ext cx="1964896" cy="1197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7E2200-1628-94B1-88FC-FB3CF7DD0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257" y="1135647"/>
            <a:ext cx="1964896" cy="1196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053B91-6FAD-54B3-4E8B-E9BD0F468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478" y="68903"/>
            <a:ext cx="4015522" cy="10657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E2D875-797A-BB56-75BA-A81200D92592}"/>
              </a:ext>
            </a:extLst>
          </p:cNvPr>
          <p:cNvSpPr txBox="1"/>
          <p:nvPr/>
        </p:nvSpPr>
        <p:spPr>
          <a:xfrm>
            <a:off x="627676" y="4380299"/>
            <a:ext cx="5648268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***P&lt;0.000, **P&lt;0.01. *P&lt;0.05</a:t>
            </a:r>
            <a:endParaRPr kumimoji="0" lang="en-US" sz="1600" i="1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402FEE-FC44-317C-8DC9-C7822BDDD78F}"/>
              </a:ext>
            </a:extLst>
          </p:cNvPr>
          <p:cNvSpPr txBox="1"/>
          <p:nvPr/>
        </p:nvSpPr>
        <p:spPr>
          <a:xfrm>
            <a:off x="627675" y="4688074"/>
            <a:ext cx="714672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Are agents’ actions sensitive to different scenarios? </a:t>
            </a:r>
            <a:r>
              <a:rPr lang="en-US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  <a:sym typeface="Calibri"/>
              </a:rPr>
              <a:t>Yes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919E4964-DDBD-CD94-B3FD-526B93FE0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481313"/>
              </p:ext>
            </p:extLst>
          </p:nvPr>
        </p:nvGraphicFramePr>
        <p:xfrm>
          <a:off x="627676" y="1413579"/>
          <a:ext cx="55361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660">
                  <a:extLst>
                    <a:ext uri="{9D8B030D-6E8A-4147-A177-3AD203B41FA5}">
                      <a16:colId xmlns:a16="http://schemas.microsoft.com/office/drawing/2014/main" val="820701274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3715058434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3908031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Experiment Number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Savings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0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Constant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0.85***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0.88***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0943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-19.02***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-20.68***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467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</a:t>
                      </a:r>
                      <a:r>
                        <a:rPr lang="en-US" sz="1800" b="0" i="0" u="none" strike="noStrike" cap="none" spc="0" baseline="300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  <a:endParaRPr lang="en-US" sz="18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131.69***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131.24***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1910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Experiment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0.09***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0.02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2557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 * Experiment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3.04***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7153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R</a:t>
                      </a:r>
                      <a:r>
                        <a:rPr lang="en-US" sz="1800" b="0" i="0" u="none" strike="noStrike" cap="none" spc="0" baseline="300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  <a:endParaRPr lang="en-US" sz="18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408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316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316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8162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484808D-8722-A14B-0573-7C46CFF94F9D}"/>
              </a:ext>
            </a:extLst>
          </p:cNvPr>
          <p:cNvSpPr/>
          <p:nvPr/>
        </p:nvSpPr>
        <p:spPr>
          <a:xfrm>
            <a:off x="627674" y="2908575"/>
            <a:ext cx="5536114" cy="770709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45719" rIns="45719" rtlCol="0" anchor="ctr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12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4293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98899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highlight>
                  <a:srgbClr val="81273E"/>
                </a:highlight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82614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BA0B92-0619-83C9-21EA-3E54024A6031}"/>
              </a:ext>
            </a:extLst>
          </p:cNvPr>
          <p:cNvGrpSpPr/>
          <p:nvPr/>
        </p:nvGrpSpPr>
        <p:grpSpPr>
          <a:xfrm>
            <a:off x="480382" y="3428999"/>
            <a:ext cx="6350265" cy="2990469"/>
            <a:chOff x="480382" y="3428999"/>
            <a:chExt cx="6350265" cy="299046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F1896E-8D90-1DBC-66F6-64E763F6A3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0065" b="858"/>
            <a:stretch/>
          </p:blipFill>
          <p:spPr>
            <a:xfrm>
              <a:off x="480382" y="3428999"/>
              <a:ext cx="3173144" cy="299046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2190ECD-F8A3-D2DE-7C29-2356D082E9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517" b="50858"/>
            <a:stretch/>
          </p:blipFill>
          <p:spPr>
            <a:xfrm>
              <a:off x="3653526" y="3513909"/>
              <a:ext cx="3177121" cy="2905558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035501-AA39-1CB1-56A0-4452F4E3BDC2}"/>
              </a:ext>
            </a:extLst>
          </p:cNvPr>
          <p:cNvGrpSpPr/>
          <p:nvPr/>
        </p:nvGrpSpPr>
        <p:grpSpPr>
          <a:xfrm>
            <a:off x="761694" y="723731"/>
            <a:ext cx="6630732" cy="1537703"/>
            <a:chOff x="761694" y="723731"/>
            <a:chExt cx="6630732" cy="153770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AC3B768-1BDA-480B-75C1-778F54B96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45540" y="801713"/>
              <a:ext cx="4646886" cy="1459721"/>
            </a:xfrm>
            <a:prstGeom prst="rect">
              <a:avLst/>
            </a:prstGeom>
          </p:spPr>
        </p:pic>
        <p:pic>
          <p:nvPicPr>
            <p:cNvPr id="11268" name="Picture 4" descr="Reuters | Breaking International News &amp; Views">
              <a:extLst>
                <a:ext uri="{FF2B5EF4-FFF2-40B4-BE49-F238E27FC236}">
                  <a16:creationId xmlns:a16="http://schemas.microsoft.com/office/drawing/2014/main" id="{0E0379A5-2CFF-5C8F-A588-EC620E28EB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694" y="723731"/>
              <a:ext cx="1459722" cy="1459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7BD25B-2CA1-C6AE-06E6-0C6EC5215FC3}"/>
              </a:ext>
            </a:extLst>
          </p:cNvPr>
          <p:cNvGrpSpPr/>
          <p:nvPr/>
        </p:nvGrpSpPr>
        <p:grpSpPr>
          <a:xfrm>
            <a:off x="480382" y="2199512"/>
            <a:ext cx="6855742" cy="1074818"/>
            <a:chOff x="480382" y="2199512"/>
            <a:chExt cx="6855742" cy="107481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E1F6D69-ABA8-3541-0AF3-D38D13EC8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45540" y="2199512"/>
              <a:ext cx="4590584" cy="1074818"/>
            </a:xfrm>
            <a:prstGeom prst="rect">
              <a:avLst/>
            </a:prstGeom>
          </p:spPr>
        </p:pic>
        <p:pic>
          <p:nvPicPr>
            <p:cNvPr id="11270" name="Picture 6" descr="Alfred Landecker | AlgorithmWatch">
              <a:extLst>
                <a:ext uri="{FF2B5EF4-FFF2-40B4-BE49-F238E27FC236}">
                  <a16:creationId xmlns:a16="http://schemas.microsoft.com/office/drawing/2014/main" id="{3663AF7F-FF24-5E33-6C2C-789AB9B04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382" y="2199512"/>
              <a:ext cx="2022345" cy="1061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040F1D-54D3-B10E-D0AC-60A0FB677990}"/>
              </a:ext>
            </a:extLst>
          </p:cNvPr>
          <p:cNvGrpSpPr/>
          <p:nvPr/>
        </p:nvGrpSpPr>
        <p:grpSpPr>
          <a:xfrm>
            <a:off x="7635239" y="250545"/>
            <a:ext cx="4220069" cy="2406093"/>
            <a:chOff x="7772400" y="1897663"/>
            <a:chExt cx="4220069" cy="240609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AEA637B-9398-1B84-6A36-9114F3F7D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8081"/>
            <a:stretch/>
          </p:blipFill>
          <p:spPr>
            <a:xfrm>
              <a:off x="7772400" y="2518834"/>
              <a:ext cx="4220069" cy="178492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433717-FE07-A35B-7166-6961E5D4C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15538" y="1897663"/>
              <a:ext cx="1733792" cy="57158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889A6F9-5A73-0703-77C2-8F14708C651F}"/>
              </a:ext>
            </a:extLst>
          </p:cNvPr>
          <p:cNvGrpSpPr/>
          <p:nvPr/>
        </p:nvGrpSpPr>
        <p:grpSpPr>
          <a:xfrm>
            <a:off x="7848214" y="2736921"/>
            <a:ext cx="3958385" cy="3961401"/>
            <a:chOff x="545339" y="909411"/>
            <a:chExt cx="3958385" cy="3961401"/>
          </a:xfrm>
        </p:grpSpPr>
        <p:pic>
          <p:nvPicPr>
            <p:cNvPr id="34" name="Picture 4" descr="Adobe Character Animator Ryan Puppet on Behance">
              <a:extLst>
                <a:ext uri="{FF2B5EF4-FFF2-40B4-BE49-F238E27FC236}">
                  <a16:creationId xmlns:a16="http://schemas.microsoft.com/office/drawing/2014/main" id="{14485D50-93AF-5258-E66E-F41C9939E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909411"/>
              <a:ext cx="3958385" cy="1979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 descr="Adobe Character Animator Debbie Puppet on Behance">
              <a:extLst>
                <a:ext uri="{FF2B5EF4-FFF2-40B4-BE49-F238E27FC236}">
                  <a16:creationId xmlns:a16="http://schemas.microsoft.com/office/drawing/2014/main" id="{39246AEA-CA3C-053E-0972-216BA3828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2891620"/>
              <a:ext cx="3958384" cy="1979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046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EB38EC-AADA-F1F1-B3B1-8B4A3842B25A}"/>
              </a:ext>
            </a:extLst>
          </p:cNvPr>
          <p:cNvGrpSpPr/>
          <p:nvPr/>
        </p:nvGrpSpPr>
        <p:grpSpPr>
          <a:xfrm>
            <a:off x="545339" y="909411"/>
            <a:ext cx="3958385" cy="3961401"/>
            <a:chOff x="545339" y="909411"/>
            <a:chExt cx="3958385" cy="3961401"/>
          </a:xfrm>
        </p:grpSpPr>
        <p:pic>
          <p:nvPicPr>
            <p:cNvPr id="2" name="Picture 4" descr="Adobe Character Animator Ryan Puppet on Behance">
              <a:extLst>
                <a:ext uri="{FF2B5EF4-FFF2-40B4-BE49-F238E27FC236}">
                  <a16:creationId xmlns:a16="http://schemas.microsoft.com/office/drawing/2014/main" id="{C1F47F1C-07B5-BFA0-5249-56DA8834A7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909411"/>
              <a:ext cx="3958385" cy="1979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6" descr="Adobe Character Animator Debbie Puppet on Behance">
              <a:extLst>
                <a:ext uri="{FF2B5EF4-FFF2-40B4-BE49-F238E27FC236}">
                  <a16:creationId xmlns:a16="http://schemas.microsoft.com/office/drawing/2014/main" id="{C6356597-671E-8738-55E6-E8EFEAFD67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2891620"/>
              <a:ext cx="3958384" cy="1979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AE6C8E-834D-0D5A-AB4A-775C61BB6B38}"/>
              </a:ext>
            </a:extLst>
          </p:cNvPr>
          <p:cNvSpPr txBox="1"/>
          <p:nvPr/>
        </p:nvSpPr>
        <p:spPr>
          <a:xfrm>
            <a:off x="513926" y="5173407"/>
            <a:ext cx="9570599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Baseline: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most popular names in US (50 female, 50 male)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highlight>
                <a:srgbClr val="81273E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2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Experiment 1: </a:t>
            </a:r>
            <a:r>
              <a:rPr lang="en-US" sz="2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most popular female names in 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Experiment 2: </a:t>
            </a:r>
            <a:r>
              <a:rPr lang="en-US" sz="2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2 most popular names in US (50 Jose, 50 Maria)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0220DA6-255F-22F6-CBCA-57DEE8C59C8B}"/>
              </a:ext>
            </a:extLst>
          </p:cNvPr>
          <p:cNvGrpSpPr/>
          <p:nvPr/>
        </p:nvGrpSpPr>
        <p:grpSpPr>
          <a:xfrm>
            <a:off x="4503723" y="911470"/>
            <a:ext cx="4101190" cy="3959342"/>
            <a:chOff x="4503723" y="911470"/>
            <a:chExt cx="4101190" cy="3959342"/>
          </a:xfrm>
        </p:grpSpPr>
        <p:pic>
          <p:nvPicPr>
            <p:cNvPr id="26630" name="Picture 6" descr="Debbie Adobe Character Animator Puppet ElectroPuppet, 42% OFF">
              <a:extLst>
                <a:ext uri="{FF2B5EF4-FFF2-40B4-BE49-F238E27FC236}">
                  <a16:creationId xmlns:a16="http://schemas.microsoft.com/office/drawing/2014/main" id="{96A4119D-1DE7-3BAC-307E-3F7496E20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3723" y="911470"/>
              <a:ext cx="3964416" cy="1982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A23C639-8184-568D-7418-83607FDD67CF}"/>
                </a:ext>
              </a:extLst>
            </p:cNvPr>
            <p:cNvGrpSpPr/>
            <p:nvPr/>
          </p:nvGrpSpPr>
          <p:grpSpPr>
            <a:xfrm>
              <a:off x="4503724" y="2317505"/>
              <a:ext cx="4101189" cy="2553307"/>
              <a:chOff x="4503724" y="2317505"/>
              <a:chExt cx="4101189" cy="2553307"/>
            </a:xfrm>
          </p:grpSpPr>
          <p:pic>
            <p:nvPicPr>
              <p:cNvPr id="26626" name="Picture 2" descr="Jose - Adobe Character Animator Puppet | ElectroPuppet">
                <a:extLst>
                  <a:ext uri="{FF2B5EF4-FFF2-40B4-BE49-F238E27FC236}">
                    <a16:creationId xmlns:a16="http://schemas.microsoft.com/office/drawing/2014/main" id="{E457806B-062A-8820-D1A3-5A408EDC2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3724" y="2888604"/>
                <a:ext cx="3964416" cy="1982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724563-CA51-7D67-C0AC-7DCAB39D59ED}"/>
                  </a:ext>
                </a:extLst>
              </p:cNvPr>
              <p:cNvSpPr txBox="1"/>
              <p:nvPr/>
            </p:nvSpPr>
            <p:spPr>
              <a:xfrm>
                <a:off x="7202557" y="2317505"/>
                <a:ext cx="1402356" cy="6463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36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highlight>
                      <a:srgbClr val="000000"/>
                    </a:highlight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Maria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1C5EB0-8D54-1918-4552-267B0C01ECEA}"/>
              </a:ext>
            </a:extLst>
          </p:cNvPr>
          <p:cNvGrpSpPr/>
          <p:nvPr/>
        </p:nvGrpSpPr>
        <p:grpSpPr>
          <a:xfrm>
            <a:off x="8699863" y="2239662"/>
            <a:ext cx="3479073" cy="2027403"/>
            <a:chOff x="8699863" y="2239662"/>
            <a:chExt cx="3479073" cy="202740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78010D8-132E-235E-76BD-1FC09A5E914F}"/>
                </a:ext>
              </a:extLst>
            </p:cNvPr>
            <p:cNvGrpSpPr/>
            <p:nvPr/>
          </p:nvGrpSpPr>
          <p:grpSpPr>
            <a:xfrm>
              <a:off x="8699863" y="2239662"/>
              <a:ext cx="3479073" cy="1368608"/>
              <a:chOff x="8699863" y="2239662"/>
              <a:chExt cx="3479073" cy="1368608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F6BEB07-2DB9-D152-CC9C-0A7517562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99863" y="2893678"/>
                <a:ext cx="3479073" cy="714592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DA457AC-9D7B-1503-9E34-9B9E7F02F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60115" y="2239662"/>
                <a:ext cx="3158570" cy="637692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1236966-1007-5088-BABD-57D61424B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772321" y="3696277"/>
              <a:ext cx="3168458" cy="5707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753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44" y="979202"/>
            <a:ext cx="3976320" cy="2423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2123711" y="3724507"/>
                <a:ext cx="754884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3724507"/>
                <a:ext cx="7548840" cy="276999"/>
              </a:xfrm>
              <a:prstGeom prst="rect">
                <a:avLst/>
              </a:prstGeom>
              <a:blipFill>
                <a:blip r:embed="rId5"/>
                <a:stretch>
                  <a:fillRect l="-1453" t="-4444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2123711" y="4121909"/>
                <a:ext cx="7752804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Female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4121909"/>
                <a:ext cx="7752804" cy="276999"/>
              </a:xfrm>
              <a:prstGeom prst="rect">
                <a:avLst/>
              </a:prstGeom>
              <a:blipFill>
                <a:blip r:embed="rId6"/>
                <a:stretch>
                  <a:fillRect l="-1415" t="-4348" b="-3260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8F7098-55EC-7B4A-4BBD-FB69E2CEEF2A}"/>
              </a:ext>
            </a:extLst>
          </p:cNvPr>
          <p:cNvGrpSpPr/>
          <p:nvPr/>
        </p:nvGrpSpPr>
        <p:grpSpPr>
          <a:xfrm>
            <a:off x="2123711" y="4519311"/>
            <a:ext cx="7213385" cy="674401"/>
            <a:chOff x="3975160" y="2935992"/>
            <a:chExt cx="6230819" cy="674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/>
                <p:nvPr/>
              </p:nvSpPr>
              <p:spPr>
                <a:xfrm>
                  <a:off x="3975160" y="2935992"/>
                  <a:ext cx="568343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𝑁𝑒𝑤𝐶𝑎𝑠𝑒𝑠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</m:t>
                        </m:r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𝑒𝑤𝐶𝑎𝑠𝑒𝑠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2935992"/>
                  <a:ext cx="568343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667" t="-4444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/>
                <p:nvPr/>
              </p:nvSpPr>
              <p:spPr>
                <a:xfrm>
                  <a:off x="3975160" y="3333394"/>
                  <a:ext cx="623081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TwoNames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333394"/>
                  <a:ext cx="62308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20" t="-4348" b="-3260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BACF279-C152-D402-9C95-D3A174234A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3364" y="979202"/>
            <a:ext cx="3976322" cy="2423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C6001C-EB8C-6C78-B381-F7B81DFDA4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9682" y="979202"/>
            <a:ext cx="3976320" cy="2423562"/>
          </a:xfrm>
          <a:prstGeom prst="rect">
            <a:avLst/>
          </a:prstGeom>
        </p:spPr>
      </p:pic>
      <p:pic>
        <p:nvPicPr>
          <p:cNvPr id="33" name="Picture 4" descr="Adobe Character Animator Ryan Puppet on Behance">
            <a:extLst>
              <a:ext uri="{FF2B5EF4-FFF2-40B4-BE49-F238E27FC236}">
                <a16:creationId xmlns:a16="http://schemas.microsoft.com/office/drawing/2014/main" id="{4EDE1893-3292-52D7-1F7A-07737037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160" y="8057"/>
            <a:ext cx="1326307" cy="66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Adobe Character Animator Debbie Puppet on Behance">
            <a:extLst>
              <a:ext uri="{FF2B5EF4-FFF2-40B4-BE49-F238E27FC236}">
                <a16:creationId xmlns:a16="http://schemas.microsoft.com/office/drawing/2014/main" id="{50530925-ED76-7A3F-4054-DFDA816B0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467" y="8057"/>
            <a:ext cx="1326308" cy="66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Jose - Adobe Character Animator Puppet | ElectroPuppet">
            <a:extLst>
              <a:ext uri="{FF2B5EF4-FFF2-40B4-BE49-F238E27FC236}">
                <a16:creationId xmlns:a16="http://schemas.microsoft.com/office/drawing/2014/main" id="{96DD6449-CD14-4DC0-12E7-AD7DA2948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082" y="9778"/>
            <a:ext cx="1314918" cy="65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4F1EDF-F6FD-3204-83A5-31A7C97E1D60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r="6373" b="9396"/>
          <a:stretch/>
        </p:blipFill>
        <p:spPr>
          <a:xfrm>
            <a:off x="9550776" y="8057"/>
            <a:ext cx="1336216" cy="68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4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Variation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67F214-7175-8571-B5A5-D5064CE8455B}"/>
              </a:ext>
            </a:extLst>
          </p:cNvPr>
          <p:cNvGrpSpPr/>
          <p:nvPr/>
        </p:nvGrpSpPr>
        <p:grpSpPr>
          <a:xfrm>
            <a:off x="8908715" y="29394"/>
            <a:ext cx="3250705" cy="1641114"/>
            <a:chOff x="177042" y="979202"/>
            <a:chExt cx="7952640" cy="48471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33480B-A8EE-7A62-8BCC-8C8C9A38C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044" y="979202"/>
              <a:ext cx="3976320" cy="242356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E5BA5D8-99E0-298C-9B41-5D79175D3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042" y="3402764"/>
              <a:ext cx="3976322" cy="242356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78AF66-7983-0AC2-ACF4-DE2EBCB06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53362" y="3402764"/>
              <a:ext cx="3976320" cy="2423562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713D2DB-226C-BA20-0998-18818F54B0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3484"/>
            <a:stretch/>
          </p:blipFill>
          <p:spPr>
            <a:xfrm>
              <a:off x="4153363" y="979203"/>
              <a:ext cx="3976319" cy="243927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76564D-DD8F-CBE0-A9BE-3E1B3AA35DDD}"/>
              </a:ext>
            </a:extLst>
          </p:cNvPr>
          <p:cNvSpPr txBox="1"/>
          <p:nvPr/>
        </p:nvSpPr>
        <p:spPr>
          <a:xfrm>
            <a:off x="627676" y="4419872"/>
            <a:ext cx="5648268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***P&lt;0.000, **P&lt;0.01. *P&lt;0.05</a:t>
            </a:r>
            <a:endParaRPr kumimoji="0" lang="en-US" sz="1600" i="1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58EE14-95C3-ADFE-B69D-F6D75B1EEBD9}"/>
              </a:ext>
            </a:extLst>
          </p:cNvPr>
          <p:cNvSpPr txBox="1"/>
          <p:nvPr/>
        </p:nvSpPr>
        <p:spPr>
          <a:xfrm>
            <a:off x="627675" y="4727647"/>
            <a:ext cx="714672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Are agents’ actions sensitive to different names?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No</a:t>
            </a: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61A38928-3E74-3679-43D7-591ABEBA0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006734"/>
              </p:ext>
            </p:extLst>
          </p:nvPr>
        </p:nvGraphicFramePr>
        <p:xfrm>
          <a:off x="627676" y="1418684"/>
          <a:ext cx="79658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660">
                  <a:extLst>
                    <a:ext uri="{9D8B030D-6E8A-4147-A177-3AD203B41FA5}">
                      <a16:colId xmlns:a16="http://schemas.microsoft.com/office/drawing/2014/main" val="820701274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3715058434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3908031248"/>
                    </a:ext>
                  </a:extLst>
                </a:gridCol>
                <a:gridCol w="1267097">
                  <a:extLst>
                    <a:ext uri="{9D8B030D-6E8A-4147-A177-3AD203B41FA5}">
                      <a16:colId xmlns:a16="http://schemas.microsoft.com/office/drawing/2014/main" val="434091579"/>
                    </a:ext>
                  </a:extLst>
                </a:gridCol>
                <a:gridCol w="1162594">
                  <a:extLst>
                    <a:ext uri="{9D8B030D-6E8A-4147-A177-3AD203B41FA5}">
                      <a16:colId xmlns:a16="http://schemas.microsoft.com/office/drawing/2014/main" val="592120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Experiment Number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Female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1" i="0" u="none" strike="noStrike" cap="none" spc="0" baseline="0" dirty="0" err="1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TwoNames</a:t>
                      </a:r>
                      <a:endParaRPr lang="en-US" sz="1800" b="1" i="0" u="none" strike="noStrike" cap="none" spc="0" baseline="0" dirty="0">
                        <a:ln>
                          <a:noFill/>
                        </a:ln>
                        <a:solidFill>
                          <a:schemeClr val="lt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0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Constant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0.88***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0.88***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0.89***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0.90***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0943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-21.27***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-21.32***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-23.05***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-23.76***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467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</a:t>
                      </a:r>
                      <a:r>
                        <a:rPr lang="en-US" sz="1800" b="0" i="0" u="none" strike="noStrike" cap="none" spc="0" baseline="300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  <a:endParaRPr lang="en-US" sz="18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138.87***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138.84***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164.49***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168.07***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1910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Experiment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-0.02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-0.04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2557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New Cases * Experiment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1.03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57153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R</a:t>
                      </a:r>
                      <a:r>
                        <a:rPr lang="en-US" sz="1800" b="0" i="0" u="none" strike="noStrike" cap="none" spc="0" baseline="300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  <a:endParaRPr lang="en-US" sz="1800" b="0" i="0" u="none" strike="noStrike" cap="none" spc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0.79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0.82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0.79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0.79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408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328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328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355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b="0" i="0" u="none" strike="noStrike" cap="none" spc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355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8162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D8E653E-BE2F-0894-3758-380A6FD1B344}"/>
              </a:ext>
            </a:extLst>
          </p:cNvPr>
          <p:cNvSpPr/>
          <p:nvPr/>
        </p:nvSpPr>
        <p:spPr>
          <a:xfrm>
            <a:off x="627674" y="2908575"/>
            <a:ext cx="7965804" cy="770709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45719" rIns="45719" rtlCol="0" anchor="ctr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26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highlight>
                  <a:srgbClr val="81273E"/>
                </a:highlight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71917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C226E-1A3A-1595-06DA-9E7BCD90D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926085"/>
            <a:ext cx="4660770" cy="1598669"/>
          </a:xfrm>
          <a:prstGeom prst="rect">
            <a:avLst/>
          </a:prstGeom>
        </p:spPr>
      </p:pic>
      <p:sp>
        <p:nvSpPr>
          <p:cNvPr id="2" name="MEET OUR TEAM">
            <a:extLst>
              <a:ext uri="{FF2B5EF4-FFF2-40B4-BE49-F238E27FC236}">
                <a16:creationId xmlns:a16="http://schemas.microsoft.com/office/drawing/2014/main" id="{FCDCE58B-E893-49DF-5812-90BD51C4203B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Types of prompt sensitivity analysis </a:t>
            </a:r>
          </a:p>
        </p:txBody>
      </p:sp>
    </p:spTree>
    <p:extLst>
      <p:ext uri="{BB962C8B-B14F-4D97-AF65-F5344CB8AC3E}">
        <p14:creationId xmlns:p14="http://schemas.microsoft.com/office/powerpoint/2010/main" val="368476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171019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have we learned from prompt sensitivity analysis?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C226E-1A3A-1595-06DA-9E7BCD90D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926085"/>
            <a:ext cx="4660770" cy="15986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A9EA7D-3FF6-FF24-3F30-B76CB89B5EE1}"/>
              </a:ext>
            </a:extLst>
          </p:cNvPr>
          <p:cNvSpPr txBox="1"/>
          <p:nvPr/>
        </p:nvSpPr>
        <p:spPr>
          <a:xfrm>
            <a:off x="709204" y="2839642"/>
            <a:ext cx="10773592" cy="3108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Are agents’ actions sensitive to synonymous phrases?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No</a:t>
            </a:r>
          </a:p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/>
            </a:endParaRPr>
          </a:p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Are agents’ actions sensitive to nonsynonymous phrases? </a:t>
            </a:r>
            <a: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Yes</a:t>
            </a:r>
          </a:p>
          <a:p>
            <a:pPr marR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sz="2800" b="1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/>
            </a:endParaRPr>
          </a:p>
          <a:p>
            <a:pPr hangingPunct="0"/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Are agents’ actions sensitive to different scenarios? </a:t>
            </a:r>
            <a: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Yes</a:t>
            </a:r>
          </a:p>
          <a:p>
            <a:pPr hangingPunct="0"/>
            <a:endParaRPr lang="en-US" sz="28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hangingPunct="0"/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Are agents’ actions sensitive to different names? </a:t>
            </a:r>
            <a: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No</a:t>
            </a:r>
            <a:endParaRPr lang="en-US" sz="2800" b="1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45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Timeline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782D19-0FC3-8DAD-C684-6D398F11B9E1}"/>
              </a:ext>
            </a:extLst>
          </p:cNvPr>
          <p:cNvSpPr txBox="1"/>
          <p:nvPr/>
        </p:nvSpPr>
        <p:spPr>
          <a:xfrm>
            <a:off x="416130" y="4669538"/>
            <a:ext cx="270999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What is generative agent-based modeling?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E259E7-DA1A-E5F3-542C-E8F69F7AE4B0}"/>
              </a:ext>
            </a:extLst>
          </p:cNvPr>
          <p:cNvSpPr txBox="1"/>
          <p:nvPr/>
        </p:nvSpPr>
        <p:spPr>
          <a:xfrm>
            <a:off x="4041369" y="4675402"/>
            <a:ext cx="3292427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Our generative agent epidemic model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0B301-1A12-5D51-70E3-613C771CC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9" y="2628282"/>
            <a:ext cx="2986856" cy="1136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30E28-59D6-D7D3-627E-D8EF9CC9E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295" y="2021294"/>
            <a:ext cx="3711196" cy="255067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F17A075-9F86-C2D8-EE81-07D2060154E0}"/>
              </a:ext>
            </a:extLst>
          </p:cNvPr>
          <p:cNvGrpSpPr/>
          <p:nvPr/>
        </p:nvGrpSpPr>
        <p:grpSpPr>
          <a:xfrm>
            <a:off x="7995164" y="2084852"/>
            <a:ext cx="3976320" cy="3236879"/>
            <a:chOff x="7995164" y="2084852"/>
            <a:chExt cx="3976320" cy="3236879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92A84E-B4AC-A45E-6737-40616C5E1E24}"/>
                </a:ext>
              </a:extLst>
            </p:cNvPr>
            <p:cNvSpPr txBox="1"/>
            <p:nvPr/>
          </p:nvSpPr>
          <p:spPr>
            <a:xfrm>
              <a:off x="8612368" y="4675402"/>
              <a:ext cx="3292427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the prompt sensitivity analysis?</a:t>
              </a:r>
              <a:endPara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8267E3-6C17-B138-C0C8-B5FF83089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5164" y="2084852"/>
              <a:ext cx="3976320" cy="2423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628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/>
          <p:nvPr/>
        </p:nvSpPr>
        <p:spPr>
          <a:xfrm>
            <a:off x="2463183" y="2562981"/>
            <a:ext cx="557895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90000"/>
              </a:lnSpc>
              <a:defRPr sz="4000" spc="90">
                <a:solidFill>
                  <a:schemeClr val="accent2"/>
                </a:solidFill>
                <a:latin typeface="Gineso Cond Thin"/>
                <a:ea typeface="Gineso Cond Thin"/>
                <a:cs typeface="Gineso Cond Thin"/>
                <a:sym typeface="Gineso Cond Thin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000" b="0" i="0" u="none" strike="noStrike" kern="0" cap="none" spc="90" normalizeH="0" baseline="0" noProof="0" dirty="0">
              <a:ln>
                <a:noFill/>
              </a:ln>
              <a:solidFill>
                <a:srgbClr val="E87731"/>
              </a:solidFill>
              <a:effectLst/>
              <a:uLnTx/>
              <a:uFillTx/>
              <a:latin typeface="Acherus Grotesque Light" panose="02000505000000020004" pitchFamily="2" charset="77"/>
              <a:sym typeface="Gineso Cond Thin"/>
            </a:endParaRPr>
          </a:p>
        </p:txBody>
      </p:sp>
      <p:sp>
        <p:nvSpPr>
          <p:cNvPr id="172" name="Straight Connector 19"/>
          <p:cNvSpPr/>
          <p:nvPr/>
        </p:nvSpPr>
        <p:spPr>
          <a:xfrm>
            <a:off x="-1462207" y="6283031"/>
            <a:ext cx="5760720" cy="49014"/>
          </a:xfrm>
          <a:prstGeom prst="line">
            <a:avLst/>
          </a:prstGeom>
          <a:ln>
            <a:solidFill>
              <a:schemeClr val="bg2"/>
            </a:solidFill>
            <a:prstDash val="dash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2" name="SECTION TITLE">
            <a:extLst>
              <a:ext uri="{FF2B5EF4-FFF2-40B4-BE49-F238E27FC236}">
                <a16:creationId xmlns:a16="http://schemas.microsoft.com/office/drawing/2014/main" id="{67A82293-05DF-684F-9B63-235EE510042C}"/>
              </a:ext>
            </a:extLst>
          </p:cNvPr>
          <p:cNvSpPr/>
          <p:nvPr/>
        </p:nvSpPr>
        <p:spPr>
          <a:xfrm>
            <a:off x="2231570" y="1416387"/>
            <a:ext cx="7497247" cy="402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658368">
              <a:lnSpc>
                <a:spcPct val="90000"/>
              </a:lnSpc>
              <a:defRPr sz="5184" spc="259">
                <a:latin typeface="AcherusGrotesqueLight"/>
                <a:ea typeface="AcherusGrotesqueLight"/>
                <a:cs typeface="AcherusGrotesqueLight"/>
                <a:sym typeface="AcherusGrotesqueLight"/>
              </a:defRPr>
            </a:lvl1pPr>
          </a:lstStyle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Thank you! </a:t>
            </a:r>
          </a:p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8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GrotesqueLight"/>
            </a:endParaRPr>
          </a:p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Ross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Fantus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 Williams</a:t>
            </a:r>
          </a:p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spc="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mail: rossfw@vt.edu</a:t>
            </a:r>
            <a:endParaRPr kumimoji="0" sz="2400" b="0" i="0" u="none" strike="noStrike" kern="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cherus Grotesque Medium" panose="02000505000000020004" pitchFamily="2" charset="77"/>
              <a:sym typeface="AcherusGrotesque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1524F7-7B00-8C4C-9F42-614DECF65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53" y="6497994"/>
            <a:ext cx="2286000" cy="2032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A73D714-4E0A-3B0D-1449-EFA22A1DA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331" y="6283031"/>
            <a:ext cx="2781669" cy="57806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98814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Results from our generative epidemic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7171F-AF29-F41D-E076-52DBA10FB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17" y="960120"/>
            <a:ext cx="7263487" cy="5509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2254C5-1C53-6C7A-C914-4158B47B6C2B}"/>
              </a:ext>
            </a:extLst>
          </p:cNvPr>
          <p:cNvSpPr txBox="1"/>
          <p:nvPr/>
        </p:nvSpPr>
        <p:spPr>
          <a:xfrm>
            <a:off x="9639896" y="434098"/>
            <a:ext cx="2392083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1000 Agents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67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513927" y="267751"/>
            <a:ext cx="11315092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t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Appendix: extra generative agent epidemic model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0D86CD-D2DA-753E-49AF-91340B79B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14" y="830580"/>
            <a:ext cx="6578680" cy="5897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E9D114-B1D9-0525-E8D5-B2D3B8AD9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437" y="849951"/>
            <a:ext cx="3991330" cy="582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021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A4EB-9571-4135-C33E-117DF855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CB57A-04DC-538A-3B86-19CEDF7BF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08" y="0"/>
            <a:ext cx="11583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7356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513927" y="267751"/>
            <a:ext cx="11315092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t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Appendix: extra generative agent epidemic model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40F4D4-EBAB-3957-4884-E3FCA0CAA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495" y="861059"/>
            <a:ext cx="7967010" cy="579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77483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513927" y="267751"/>
            <a:ext cx="11315092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t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Appendix: extra generative agent epidemic model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31F809-C0FD-B04F-E35F-7DED870D9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244" y="807720"/>
            <a:ext cx="5469512" cy="605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073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Theme Colors 2">
      <a:dk1>
        <a:srgbClr val="861F41"/>
      </a:dk1>
      <a:lt1>
        <a:srgbClr val="FFFFFF"/>
      </a:lt1>
      <a:dk2>
        <a:srgbClr val="75787B"/>
      </a:dk2>
      <a:lt2>
        <a:srgbClr val="DBDBDB"/>
      </a:lt2>
      <a:accent1>
        <a:srgbClr val="861F41"/>
      </a:accent1>
      <a:accent2>
        <a:srgbClr val="E87731"/>
      </a:accent2>
      <a:accent3>
        <a:srgbClr val="A5A5A5"/>
      </a:accent3>
      <a:accent4>
        <a:srgbClr val="417C79"/>
      </a:accent4>
      <a:accent5>
        <a:srgbClr val="E5E1E6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="" xmlns:ma14="http://schemas.microsoft.com/office/mac/drawingml/2011/main" val="1"/>
          </a:ext>
        </a:extLst>
      </a:spPr>
      <a:bodyPr lIns="45719" rIns="45719">
        <a:spAutoFit/>
      </a:bodyPr>
      <a:lstStyle>
        <a:defPPr>
          <a:defRPr dirty="0" smtClean="0"/>
        </a:defPPr>
      </a:lst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6178</TotalTime>
  <Words>1550</Words>
  <Application>Microsoft Office PowerPoint</Application>
  <PresentationFormat>Widescreen</PresentationFormat>
  <Paragraphs>286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Acherus Grotesque Light</vt:lpstr>
      <vt:lpstr>Acherus Grotesque Medium</vt:lpstr>
      <vt:lpstr>Acherus Grotesque Regular</vt:lpstr>
      <vt:lpstr>Arial</vt:lpstr>
      <vt:lpstr>Calibri</vt:lpstr>
      <vt:lpstr>Cambria Math</vt:lpstr>
      <vt:lpstr>Helvetica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georgia liu</dc:creator>
  <cp:lastModifiedBy>Williams, Ross</cp:lastModifiedBy>
  <cp:revision>21</cp:revision>
  <dcterms:created xsi:type="dcterms:W3CDTF">2022-05-05T00:07:06Z</dcterms:created>
  <dcterms:modified xsi:type="dcterms:W3CDTF">2023-10-31T19:52:25Z</dcterms:modified>
</cp:coreProperties>
</file>