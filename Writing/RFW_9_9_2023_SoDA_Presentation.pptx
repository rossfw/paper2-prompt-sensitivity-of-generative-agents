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6"/>
  </p:notesMasterIdLst>
  <p:sldIdLst>
    <p:sldId id="1779" r:id="rId2"/>
    <p:sldId id="1896" r:id="rId3"/>
    <p:sldId id="1897" r:id="rId4"/>
    <p:sldId id="1849" r:id="rId5"/>
    <p:sldId id="1898" r:id="rId6"/>
    <p:sldId id="1851" r:id="rId7"/>
    <p:sldId id="1853" r:id="rId8"/>
    <p:sldId id="1854" r:id="rId9"/>
    <p:sldId id="1858" r:id="rId10"/>
    <p:sldId id="1860" r:id="rId11"/>
    <p:sldId id="1899" r:id="rId12"/>
    <p:sldId id="1900" r:id="rId13"/>
    <p:sldId id="1862" r:id="rId14"/>
    <p:sldId id="1865" r:id="rId15"/>
    <p:sldId id="1866" r:id="rId16"/>
    <p:sldId id="1867" r:id="rId17"/>
    <p:sldId id="1869" r:id="rId18"/>
    <p:sldId id="1874" r:id="rId19"/>
    <p:sldId id="1868" r:id="rId20"/>
    <p:sldId id="1870" r:id="rId21"/>
    <p:sldId id="1871" r:id="rId22"/>
    <p:sldId id="1875" r:id="rId23"/>
    <p:sldId id="1876" r:id="rId24"/>
    <p:sldId id="1877" r:id="rId25"/>
    <p:sldId id="1878" r:id="rId26"/>
    <p:sldId id="1879" r:id="rId27"/>
    <p:sldId id="1880" r:id="rId28"/>
    <p:sldId id="1881" r:id="rId29"/>
    <p:sldId id="1882" r:id="rId30"/>
    <p:sldId id="1883" r:id="rId31"/>
    <p:sldId id="1884" r:id="rId32"/>
    <p:sldId id="1886" r:id="rId33"/>
    <p:sldId id="1887" r:id="rId34"/>
    <p:sldId id="1888" r:id="rId35"/>
    <p:sldId id="1890" r:id="rId36"/>
    <p:sldId id="1891" r:id="rId37"/>
    <p:sldId id="1892" r:id="rId38"/>
    <p:sldId id="1895" r:id="rId39"/>
    <p:sldId id="1837" r:id="rId40"/>
    <p:sldId id="1859" r:id="rId41"/>
    <p:sldId id="1855" r:id="rId42"/>
    <p:sldId id="1901" r:id="rId43"/>
    <p:sldId id="1857" r:id="rId44"/>
    <p:sldId id="1856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700"/>
    <a:srgbClr val="861F41"/>
    <a:srgbClr val="7D495A"/>
    <a:srgbClr val="84293F"/>
    <a:srgbClr val="81273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798"/>
  </p:normalViewPr>
  <p:slideViewPr>
    <p:cSldViewPr snapToGrid="0" snapToObjects="1">
      <p:cViewPr varScale="1">
        <p:scale>
          <a:sx n="101" d="100"/>
          <a:sy n="101" d="100"/>
        </p:scale>
        <p:origin x="99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50342-228F-8D44-B68A-FB2E5D5621EF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F96CB2-3EBD-9143-BF8A-FF8CD2328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83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F96CB2-3EBD-9143-BF8A-FF8CD23284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92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858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680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337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526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028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169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836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107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cap="none" spc="0" normalizeH="0" baseline="0" dirty="0">
                <a:ln>
                  <a:noFill/>
                </a:ln>
                <a:solidFill>
                  <a:schemeClr val="accent2"/>
                </a:solidFill>
                <a:effectLst/>
                <a:uFillTx/>
                <a:latin typeface="+mj-lt"/>
                <a:ea typeface="+mj-ea"/>
                <a:cs typeface="+mj-cs"/>
                <a:sym typeface="Calibri"/>
              </a:rPr>
              <a:t>Impact of perceived risk on attack rate: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230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124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979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198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6534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8961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8437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5730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6818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6011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096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844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3156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587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560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96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914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1834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4324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61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8770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166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825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7161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405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592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3088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0702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6186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F96CB2-3EBD-9143-BF8A-FF8CD23284A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216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802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Systems Dynamics model on the Oscillation Behavior of Learning and Forgetting in Safety-Critical Systems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0271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Systems Dynamics model on the Oscillation Behavior of Learning and Forgetting in Safety-Critical Systems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591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Systems Dynamics model on the Oscillation Behavior of Learning and Forgetting in Safety-Critical Systems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48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 backgrou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5"/>
          <p:cNvSpPr>
            <a:spLocks noGrp="1"/>
          </p:cNvSpPr>
          <p:nvPr userDrawn="1"/>
        </p:nvSpPr>
        <p:spPr>
          <a:xfrm>
            <a:off x="-15607" y="-643262"/>
            <a:ext cx="12223214" cy="8144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endParaRPr lang="en-US"/>
          </a:p>
        </p:txBody>
      </p:sp>
      <p:pic>
        <p:nvPicPr>
          <p:cNvPr id="3" name="pasted-image.pdf" descr="pasted-image.pdf">
            <a:extLst>
              <a:ext uri="{FF2B5EF4-FFF2-40B4-BE49-F238E27FC236}">
                <a16:creationId xmlns:a16="http://schemas.microsoft.com/office/drawing/2014/main" id="{BFC2BD2A-A3DA-0CBB-952A-17E042DDA0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6FCDDF-91E2-A422-46EF-43DF6603D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927" y="31648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CADA0-63F9-EE05-E314-3D73FEEB0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BCD69-39DB-0C45-E0AA-875598C5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mmmmm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D100C-41EE-D935-FB96-589412697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6424C-3ADF-794F-BE59-7B31A2F69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1155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backgrou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5"/>
          <p:cNvSpPr>
            <a:spLocks noGrp="1"/>
          </p:cNvSpPr>
          <p:nvPr userDrawn="1"/>
        </p:nvSpPr>
        <p:spPr>
          <a:xfrm>
            <a:off x="-15607" y="-643262"/>
            <a:ext cx="12223214" cy="8144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FDAFF-F0AD-8093-5485-662DCCAEB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5983399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629E4D-D6AE-3D54-BED9-55CFADA35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679398C-840A-2BD0-6E30-24A042879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err="1"/>
              <a:t>mmmmm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BABD6D1-C202-62B9-516B-91CB553F5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6424C-3ADF-794F-BE59-7B31A2F69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27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</p:sldLayoutIdLst>
  <p:transition spd="med"/>
  <p:hf hdr="0" ftr="0" dt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bg2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200" baseline="0">
          <a:ln>
            <a:noFill/>
          </a:ln>
          <a:solidFill>
            <a:schemeClr val="accent1"/>
          </a:solidFill>
          <a:uFillTx/>
          <a:latin typeface="Acherus Grotesque Regular"/>
          <a:ea typeface="Acherus Grotesque Regular"/>
          <a:cs typeface="Acherus Grotesque Regular"/>
          <a:sym typeface="Acherus Grotesque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chemeClr val="accent1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1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e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1.png"/><Relationship Id="rId5" Type="http://schemas.openxmlformats.org/officeDocument/2006/relationships/image" Target="../media/image7.png"/><Relationship Id="rId10" Type="http://schemas.openxmlformats.org/officeDocument/2006/relationships/image" Target="../media/image40.png"/><Relationship Id="rId4" Type="http://schemas.openxmlformats.org/officeDocument/2006/relationships/image" Target="../media/image1.png"/><Relationship Id="rId9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5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1.png"/><Relationship Id="rId5" Type="http://schemas.openxmlformats.org/officeDocument/2006/relationships/image" Target="../media/image7.png"/><Relationship Id="rId10" Type="http://schemas.openxmlformats.org/officeDocument/2006/relationships/image" Target="../media/image44.png"/><Relationship Id="rId4" Type="http://schemas.openxmlformats.org/officeDocument/2006/relationships/image" Target="../media/image1.png"/><Relationship Id="rId9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7.png"/><Relationship Id="rId9" Type="http://schemas.openxmlformats.org/officeDocument/2006/relationships/image" Target="../media/image5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7.png"/><Relationship Id="rId9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.png"/><Relationship Id="rId7" Type="http://schemas.openxmlformats.org/officeDocument/2006/relationships/image" Target="../media/image61.png"/><Relationship Id="rId12" Type="http://schemas.openxmlformats.org/officeDocument/2006/relationships/image" Target="../media/image3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31.jpe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5.png"/><Relationship Id="rId9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1.png"/><Relationship Id="rId7" Type="http://schemas.openxmlformats.org/officeDocument/2006/relationships/image" Target="../media/image6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jpeg"/><Relationship Id="rId5" Type="http://schemas.openxmlformats.org/officeDocument/2006/relationships/image" Target="../media/image32.jpeg"/><Relationship Id="rId10" Type="http://schemas.openxmlformats.org/officeDocument/2006/relationships/image" Target="../media/image69.png"/><Relationship Id="rId4" Type="http://schemas.openxmlformats.org/officeDocument/2006/relationships/image" Target="../media/image31.jpeg"/><Relationship Id="rId9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31.jpeg"/><Relationship Id="rId3" Type="http://schemas.openxmlformats.org/officeDocument/2006/relationships/image" Target="../media/image1.png"/><Relationship Id="rId7" Type="http://schemas.openxmlformats.org/officeDocument/2006/relationships/image" Target="../media/image73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0.png"/><Relationship Id="rId5" Type="http://schemas.openxmlformats.org/officeDocument/2006/relationships/image" Target="../media/image71.png"/><Relationship Id="rId15" Type="http://schemas.openxmlformats.org/officeDocument/2006/relationships/image" Target="../media/image66.jpeg"/><Relationship Id="rId10" Type="http://schemas.openxmlformats.org/officeDocument/2006/relationships/image" Target="../media/image76.png"/><Relationship Id="rId4" Type="http://schemas.openxmlformats.org/officeDocument/2006/relationships/image" Target="../media/image7.png"/><Relationship Id="rId9" Type="http://schemas.openxmlformats.org/officeDocument/2006/relationships/image" Target="../media/image75.png"/><Relationship Id="rId14" Type="http://schemas.openxmlformats.org/officeDocument/2006/relationships/image" Target="../media/image32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31.jpeg"/><Relationship Id="rId3" Type="http://schemas.openxmlformats.org/officeDocument/2006/relationships/image" Target="../media/image1.png"/><Relationship Id="rId7" Type="http://schemas.openxmlformats.org/officeDocument/2006/relationships/image" Target="../media/image80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70.png"/><Relationship Id="rId5" Type="http://schemas.openxmlformats.org/officeDocument/2006/relationships/image" Target="../media/image71.png"/><Relationship Id="rId15" Type="http://schemas.openxmlformats.org/officeDocument/2006/relationships/image" Target="../media/image66.jpeg"/><Relationship Id="rId10" Type="http://schemas.openxmlformats.org/officeDocument/2006/relationships/image" Target="../media/image81.png"/><Relationship Id="rId4" Type="http://schemas.openxmlformats.org/officeDocument/2006/relationships/image" Target="../media/image7.png"/><Relationship Id="rId9" Type="http://schemas.openxmlformats.org/officeDocument/2006/relationships/image" Target="../media/image75.png"/><Relationship Id="rId14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1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6.png"/><Relationship Id="rId5" Type="http://schemas.openxmlformats.org/officeDocument/2006/relationships/image" Target="../media/image70.png"/><Relationship Id="rId10" Type="http://schemas.openxmlformats.org/officeDocument/2006/relationships/image" Target="../media/image85.png"/><Relationship Id="rId4" Type="http://schemas.openxmlformats.org/officeDocument/2006/relationships/image" Target="../media/image7.png"/><Relationship Id="rId9" Type="http://schemas.openxmlformats.org/officeDocument/2006/relationships/image" Target="../media/image8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8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1"/>
          <a:stretch/>
        </p:blipFill>
        <p:spPr>
          <a:xfrm>
            <a:off x="0" y="0"/>
            <a:ext cx="9016376" cy="6858000"/>
          </a:xfrm>
          <a:prstGeom prst="rect">
            <a:avLst/>
          </a:prstGeom>
        </p:spPr>
      </p:pic>
      <p:sp>
        <p:nvSpPr>
          <p:cNvPr id="335" name="Rectangle"/>
          <p:cNvSpPr/>
          <p:nvPr/>
        </p:nvSpPr>
        <p:spPr>
          <a:xfrm>
            <a:off x="0" y="-1"/>
            <a:ext cx="9016375" cy="6858001"/>
          </a:xfrm>
          <a:prstGeom prst="rect">
            <a:avLst/>
          </a:prstGeom>
          <a:solidFill>
            <a:schemeClr val="tx1">
              <a:alpha val="89814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pic>
        <p:nvPicPr>
          <p:cNvPr id="13" name="pasted-image.pdf" descr="pasted-image.pdf">
            <a:extLst>
              <a:ext uri="{FF2B5EF4-FFF2-40B4-BE49-F238E27FC236}">
                <a16:creationId xmlns:a16="http://schemas.microsoft.com/office/drawing/2014/main" id="{E45E7BD3-66B1-FB4B-B16D-4EC739BB5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215" y="1478100"/>
            <a:ext cx="229812" cy="229813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PRESENTATION TITLE GOES HERE">
            <a:extLst>
              <a:ext uri="{FF2B5EF4-FFF2-40B4-BE49-F238E27FC236}">
                <a16:creationId xmlns:a16="http://schemas.microsoft.com/office/drawing/2014/main" id="{F4413DA2-0208-9F40-B55D-1F82C0A7CB3B}"/>
              </a:ext>
            </a:extLst>
          </p:cNvPr>
          <p:cNvSpPr/>
          <p:nvPr/>
        </p:nvSpPr>
        <p:spPr>
          <a:xfrm>
            <a:off x="1358026" y="1593006"/>
            <a:ext cx="7658348" cy="146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t">
            <a:noAutofit/>
          </a:bodyPr>
          <a:lstStyle>
            <a:lvl1pPr defTabSz="758951">
              <a:lnSpc>
                <a:spcPct val="90000"/>
              </a:lnSpc>
              <a:defRPr sz="5312" spc="265">
                <a:solidFill>
                  <a:schemeClr val="accent5">
                    <a:hueOff val="-15428571"/>
                    <a:satOff val="-30434"/>
                    <a:lumOff val="9019"/>
                  </a:schemeClr>
                </a:solidFill>
                <a:latin typeface="AcherusGrotesqueLight"/>
                <a:ea typeface="AcherusGrotesqueLight"/>
                <a:cs typeface="AcherusGrotesqueLight"/>
                <a:sym typeface="AcherusGrotesqueLight"/>
              </a:defRPr>
            </a:lvl1pPr>
          </a:lstStyle>
          <a:p>
            <a:pPr marL="0" marR="0" lvl="0" indent="0" algn="l" defTabSz="758951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GrotesqueLight"/>
              </a:rPr>
              <a:t>Generative Agent-based Modeling: Prompt Sensitivity Analysis</a:t>
            </a:r>
          </a:p>
        </p:txBody>
      </p:sp>
      <p:sp>
        <p:nvSpPr>
          <p:cNvPr id="15" name="Professor Albert Einstein June 23, 2018">
            <a:extLst>
              <a:ext uri="{FF2B5EF4-FFF2-40B4-BE49-F238E27FC236}">
                <a16:creationId xmlns:a16="http://schemas.microsoft.com/office/drawing/2014/main" id="{8D0368D4-7965-DD40-8125-65C0E88E85E3}"/>
              </a:ext>
            </a:extLst>
          </p:cNvPr>
          <p:cNvSpPr/>
          <p:nvPr/>
        </p:nvSpPr>
        <p:spPr>
          <a:xfrm>
            <a:off x="1358027" y="3690941"/>
            <a:ext cx="7658348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E87731"/>
                </a:solidFill>
                <a:latin typeface="Gineso Cond Thin"/>
                <a:ea typeface="Gineso Cond Thin"/>
                <a:cs typeface="Gineso Cond Thin"/>
                <a:sym typeface="Gineso Cond Thin"/>
              </a:defRPr>
            </a:pPr>
            <a:r>
              <a:rPr kumimoji="0" lang="en-US" sz="3000" b="0" i="0" u="none" strike="noStrike" kern="0" cap="all" spc="300" normalizeH="0" baseline="0" noProof="0" dirty="0">
                <a:ln>
                  <a:noFill/>
                </a:ln>
                <a:solidFill>
                  <a:srgbClr val="E87731"/>
                </a:solidFill>
                <a:effectLst/>
                <a:uLnTx/>
                <a:uFillTx/>
                <a:latin typeface="Acherus Grotesque Light" panose="02000505000000020004" pitchFamily="2" charset="77"/>
                <a:ea typeface="Acherus Grotesque Regular" charset="0"/>
                <a:cs typeface="Acherus Grotesque Regular" charset="0"/>
                <a:sym typeface="Gineso Cond Thin"/>
              </a:rPr>
              <a:t>Ross </a:t>
            </a:r>
            <a:r>
              <a:rPr kumimoji="0" lang="en-US" sz="3000" b="0" i="0" u="none" strike="noStrike" kern="0" cap="all" spc="300" normalizeH="0" baseline="0" noProof="0" dirty="0" err="1">
                <a:ln>
                  <a:noFill/>
                </a:ln>
                <a:solidFill>
                  <a:srgbClr val="E87731"/>
                </a:solidFill>
                <a:effectLst/>
                <a:uLnTx/>
                <a:uFillTx/>
                <a:latin typeface="Acherus Grotesque Light" panose="02000505000000020004" pitchFamily="2" charset="77"/>
                <a:ea typeface="Acherus Grotesque Regular" charset="0"/>
                <a:cs typeface="Acherus Grotesque Regular" charset="0"/>
                <a:sym typeface="Gineso Cond Thin"/>
              </a:rPr>
              <a:t>Fantus</a:t>
            </a:r>
            <a:r>
              <a:rPr kumimoji="0" lang="en-US" sz="3000" b="0" i="0" u="none" strike="noStrike" kern="0" cap="all" spc="300" normalizeH="0" baseline="0" noProof="0" dirty="0">
                <a:ln>
                  <a:noFill/>
                </a:ln>
                <a:solidFill>
                  <a:srgbClr val="E87731"/>
                </a:solidFill>
                <a:effectLst/>
                <a:uLnTx/>
                <a:uFillTx/>
                <a:latin typeface="Acherus Grotesque Light" panose="02000505000000020004" pitchFamily="2" charset="77"/>
                <a:ea typeface="Acherus Grotesque Regular" charset="0"/>
                <a:cs typeface="Acherus Grotesque Regular" charset="0"/>
                <a:sym typeface="Gineso Cond Thin"/>
              </a:rPr>
              <a:t> Williams</a:t>
            </a:r>
          </a:p>
        </p:txBody>
      </p:sp>
      <p:sp>
        <p:nvSpPr>
          <p:cNvPr id="16" name="Professor Albert Einstein June 23, 2018">
            <a:extLst>
              <a:ext uri="{FF2B5EF4-FFF2-40B4-BE49-F238E27FC236}">
                <a16:creationId xmlns:a16="http://schemas.microsoft.com/office/drawing/2014/main" id="{5527AB94-C69B-2D43-9FA0-5F33D3D7F99A}"/>
              </a:ext>
            </a:extLst>
          </p:cNvPr>
          <p:cNvSpPr/>
          <p:nvPr/>
        </p:nvSpPr>
        <p:spPr>
          <a:xfrm>
            <a:off x="1358026" y="4363602"/>
            <a:ext cx="7658349" cy="477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E87731"/>
                </a:solidFill>
                <a:latin typeface="Gineso Cond Thin"/>
                <a:ea typeface="Gineso Cond Thin"/>
                <a:cs typeface="Gineso Cond Thin"/>
                <a:sym typeface="Gineso Cond Thin"/>
              </a:defRPr>
            </a:pPr>
            <a:r>
              <a:rPr kumimoji="0" lang="en-US" sz="2500" b="0" i="0" u="none" strike="noStrike" kern="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cherus Grotesque Light" panose="02000505000000020004" pitchFamily="2" charset="77"/>
                <a:ea typeface="Acherus Grotesque Regular" charset="0"/>
                <a:cs typeface="Acherus Grotesque Regular" charset="0"/>
                <a:sym typeface="Gineso Cond Thin"/>
              </a:rPr>
              <a:t>September </a:t>
            </a:r>
            <a:r>
              <a:rPr lang="en-US" sz="2500" kern="0" cap="all" spc="300" dirty="0">
                <a:solidFill>
                  <a:srgbClr val="FFFFFF"/>
                </a:solidFill>
                <a:latin typeface="Acherus Grotesque Light" panose="02000505000000020004" pitchFamily="2" charset="77"/>
                <a:ea typeface="Acherus Grotesque Regular" charset="0"/>
                <a:cs typeface="Acherus Grotesque Regular" charset="0"/>
                <a:sym typeface="Gineso Cond Thin"/>
              </a:rPr>
              <a:t>8</a:t>
            </a:r>
            <a:r>
              <a:rPr kumimoji="0" lang="en-US" sz="2500" b="0" i="0" u="none" strike="noStrike" kern="0" cap="all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cherus Grotesque Light" panose="02000505000000020004" pitchFamily="2" charset="77"/>
                <a:ea typeface="Acherus Grotesque Regular" charset="0"/>
                <a:cs typeface="Acherus Grotesque Regular" charset="0"/>
                <a:sym typeface="Gineso Cond Thin"/>
              </a:rPr>
              <a:t>, 2023, F23 SODA Meeting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F3F740-704B-1B44-AA0F-484587FE6C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648" y="2743199"/>
            <a:ext cx="2606041" cy="13716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3A7151A-15F9-0102-391E-D312A1964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293" y="4695825"/>
            <a:ext cx="2952750" cy="613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92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Timeline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806064-DE4C-897D-BBCE-C4E41CD2A26C}"/>
              </a:ext>
            </a:extLst>
          </p:cNvPr>
          <p:cNvGrpSpPr/>
          <p:nvPr/>
        </p:nvGrpSpPr>
        <p:grpSpPr>
          <a:xfrm>
            <a:off x="302319" y="2628282"/>
            <a:ext cx="3084716" cy="2633342"/>
            <a:chOff x="302319" y="2628282"/>
            <a:chExt cx="3084716" cy="2633342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2782D19-0FC3-8DAD-C684-6D398F11B9E1}"/>
                </a:ext>
              </a:extLst>
            </p:cNvPr>
            <p:cNvSpPr txBox="1"/>
            <p:nvPr/>
          </p:nvSpPr>
          <p:spPr>
            <a:xfrm>
              <a:off x="302319" y="4061297"/>
              <a:ext cx="3084716" cy="12003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What is generative agent-based modeling?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170B301-1A12-5D51-70E3-613C771CC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179" y="2628282"/>
              <a:ext cx="2986856" cy="1136125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422F520-1C05-CB69-9392-F5F5F6CCB9E6}"/>
              </a:ext>
            </a:extLst>
          </p:cNvPr>
          <p:cNvGrpSpPr/>
          <p:nvPr/>
        </p:nvGrpSpPr>
        <p:grpSpPr>
          <a:xfrm>
            <a:off x="3976295" y="1213728"/>
            <a:ext cx="3711196" cy="3726109"/>
            <a:chOff x="3976295" y="1213728"/>
            <a:chExt cx="3711196" cy="3726109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CE259E7-DA1A-E5F3-542C-E8F69F7AE4B0}"/>
                </a:ext>
              </a:extLst>
            </p:cNvPr>
            <p:cNvSpPr txBox="1"/>
            <p:nvPr/>
          </p:nvSpPr>
          <p:spPr>
            <a:xfrm>
              <a:off x="4185679" y="4108842"/>
              <a:ext cx="3292427" cy="8309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Our generative agent epidemic model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E630E28-59D6-D7D3-627E-D8EF9CC9E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76295" y="1213728"/>
              <a:ext cx="3711196" cy="2550679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7A089CB-D920-C4B9-613E-E204323CB338}"/>
              </a:ext>
            </a:extLst>
          </p:cNvPr>
          <p:cNvGrpSpPr/>
          <p:nvPr/>
        </p:nvGrpSpPr>
        <p:grpSpPr>
          <a:xfrm>
            <a:off x="8026447" y="1340845"/>
            <a:ext cx="3976320" cy="3596734"/>
            <a:chOff x="8026447" y="1340845"/>
            <a:chExt cx="3976320" cy="359673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E92A84E-B4AC-A45E-6737-40616C5E1E24}"/>
                </a:ext>
              </a:extLst>
            </p:cNvPr>
            <p:cNvSpPr txBox="1"/>
            <p:nvPr/>
          </p:nvSpPr>
          <p:spPr>
            <a:xfrm>
              <a:off x="8537660" y="4106584"/>
              <a:ext cx="3292427" cy="8309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What is prompt sensitivity analysis?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F8267E3-6C17-B138-C0C8-B5FF83089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26447" y="1340845"/>
              <a:ext cx="3976320" cy="24235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1021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Generative Agent-Based Modeling?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DAF12E-5F23-157C-DC07-BF95EC01D200}"/>
              </a:ext>
            </a:extLst>
          </p:cNvPr>
          <p:cNvSpPr txBox="1"/>
          <p:nvPr/>
        </p:nvSpPr>
        <p:spPr>
          <a:xfrm>
            <a:off x="627676" y="926085"/>
            <a:ext cx="894528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agent-based modeling?</a:t>
            </a:r>
            <a:endParaRPr lang="en-US" sz="2400" dirty="0">
              <a:solidFill>
                <a:schemeClr val="accent2"/>
              </a:solidFill>
            </a:endParaRPr>
          </a:p>
        </p:txBody>
      </p:sp>
      <p:pic>
        <p:nvPicPr>
          <p:cNvPr id="27650" name="Picture 2" descr="Crowd People Appearance. Multicultural Crowd of People. Group of different  men and women. Young, adult and older peole. European, Asian, African and  Arabian People. Empty faces. Cartoon Animation. 4K ...">
            <a:extLst>
              <a:ext uri="{FF2B5EF4-FFF2-40B4-BE49-F238E27FC236}">
                <a16:creationId xmlns:a16="http://schemas.microsoft.com/office/drawing/2014/main" id="{D5B68254-7A88-8E94-0BBB-1567C26B2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78" y="1858191"/>
            <a:ext cx="5138057" cy="2890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6" descr="Cartoon Earth Images – Browse 209,486 Stock Photos, Vectors ...">
            <a:extLst>
              <a:ext uri="{FF2B5EF4-FFF2-40B4-BE49-F238E27FC236}">
                <a16:creationId xmlns:a16="http://schemas.microsoft.com/office/drawing/2014/main" id="{F6AFC29C-0600-4C4A-23CD-E1322601C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9980" y="2272700"/>
            <a:ext cx="2557173" cy="2557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E3ADA1-31D8-082C-23A2-D6438B56E1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056395">
            <a:off x="6263611" y="973031"/>
            <a:ext cx="2208399" cy="2208399"/>
          </a:xfrm>
          <a:prstGeom prst="rect">
            <a:avLst/>
          </a:prstGeom>
        </p:spPr>
      </p:pic>
      <p:pic>
        <p:nvPicPr>
          <p:cNvPr id="27660" name="Picture 12" descr="Game Programmer's handy math formulas – That French Game Dev">
            <a:extLst>
              <a:ext uri="{FF2B5EF4-FFF2-40B4-BE49-F238E27FC236}">
                <a16:creationId xmlns:a16="http://schemas.microsoft.com/office/drawing/2014/main" id="{712B6E97-8EAA-03E4-320D-026727BB4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694" y="3099748"/>
            <a:ext cx="2094245" cy="104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53FA56-0AF3-4BF5-11F7-97421F9498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9240000">
            <a:off x="6261170" y="3995608"/>
            <a:ext cx="2208399" cy="2208399"/>
          </a:xfrm>
          <a:prstGeom prst="rect">
            <a:avLst/>
          </a:prstGeom>
        </p:spPr>
      </p:pic>
      <p:pic>
        <p:nvPicPr>
          <p:cNvPr id="27662" name="Picture 14" descr="Premium Vector | The human brain on a white background. cartoon design.">
            <a:extLst>
              <a:ext uri="{FF2B5EF4-FFF2-40B4-BE49-F238E27FC236}">
                <a16:creationId xmlns:a16="http://schemas.microsoft.com/office/drawing/2014/main" id="{DC2E022A-7BA5-B505-5C1B-66B2A9A4D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018" y="4780635"/>
            <a:ext cx="1795670" cy="179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407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Generative Agent-Based Modeling?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3BD8C-8245-53B1-3798-2658D2678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7940"/>
            <a:ext cx="12192000" cy="4850755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F6849B8-ACBC-1F22-8027-0CB80CB54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2370" y="-11669977"/>
            <a:ext cx="6389630" cy="24098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49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ChatGPT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What is ChatGPT?">
            <a:extLst>
              <a:ext uri="{FF2B5EF4-FFF2-40B4-BE49-F238E27FC236}">
                <a16:creationId xmlns:a16="http://schemas.microsoft.com/office/drawing/2014/main" id="{08B946AC-D71F-52B0-EDBC-08EA0CB39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27" y="3180522"/>
            <a:ext cx="1189099" cy="665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99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Summary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806064-DE4C-897D-BBCE-C4E41CD2A26C}"/>
              </a:ext>
            </a:extLst>
          </p:cNvPr>
          <p:cNvGrpSpPr/>
          <p:nvPr/>
        </p:nvGrpSpPr>
        <p:grpSpPr>
          <a:xfrm>
            <a:off x="302319" y="2628282"/>
            <a:ext cx="3084716" cy="2633342"/>
            <a:chOff x="302319" y="2628282"/>
            <a:chExt cx="3084716" cy="2633342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2782D19-0FC3-8DAD-C684-6D398F11B9E1}"/>
                </a:ext>
              </a:extLst>
            </p:cNvPr>
            <p:cNvSpPr txBox="1"/>
            <p:nvPr/>
          </p:nvSpPr>
          <p:spPr>
            <a:xfrm>
              <a:off x="302319" y="4061297"/>
              <a:ext cx="3084716" cy="12003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What is generative agent-based modeling?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170B301-1A12-5D51-70E3-613C771CC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179" y="2628282"/>
              <a:ext cx="2986856" cy="1136125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422F520-1C05-CB69-9392-F5F5F6CCB9E6}"/>
              </a:ext>
            </a:extLst>
          </p:cNvPr>
          <p:cNvGrpSpPr/>
          <p:nvPr/>
        </p:nvGrpSpPr>
        <p:grpSpPr>
          <a:xfrm>
            <a:off x="3976295" y="1213728"/>
            <a:ext cx="3711196" cy="3726109"/>
            <a:chOff x="3976295" y="1213728"/>
            <a:chExt cx="3711196" cy="3726109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CE259E7-DA1A-E5F3-542C-E8F69F7AE4B0}"/>
                </a:ext>
              </a:extLst>
            </p:cNvPr>
            <p:cNvSpPr txBox="1"/>
            <p:nvPr/>
          </p:nvSpPr>
          <p:spPr>
            <a:xfrm>
              <a:off x="4185679" y="4108842"/>
              <a:ext cx="3292427" cy="8309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Our generative agent epidemic model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E630E28-59D6-D7D3-627E-D8EF9CC9E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76295" y="1213728"/>
              <a:ext cx="3711196" cy="25506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020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our </a:t>
            </a: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enerative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 agent </a:t>
            </a: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pidemic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 model?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3BD8C-8245-53B1-3798-2658D2678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406" y="2655124"/>
            <a:ext cx="3890156" cy="15477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35A16C-8B5C-1402-3E39-CA9EFABAB9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179" y="1063434"/>
            <a:ext cx="7428497" cy="501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487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35A16C-8B5C-1402-3E39-CA9EFABAB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516" y="849951"/>
            <a:ext cx="3869484" cy="26115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16F746-3715-581A-13C8-21A2C5A19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76" y="3583589"/>
            <a:ext cx="5965164" cy="30920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AAB68B-43BE-5B17-938C-9C978A06B3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7587" y="849951"/>
            <a:ext cx="3991330" cy="5821724"/>
          </a:xfrm>
          <a:prstGeom prst="rect">
            <a:avLst/>
          </a:prstGeom>
        </p:spPr>
      </p:pic>
      <p:sp>
        <p:nvSpPr>
          <p:cNvPr id="14" name="MEET OUR TEAM">
            <a:extLst>
              <a:ext uri="{FF2B5EF4-FFF2-40B4-BE49-F238E27FC236}">
                <a16:creationId xmlns:a16="http://schemas.microsoft.com/office/drawing/2014/main" id="{58A4615E-0D05-CF5D-9595-2B44F20A207D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our </a:t>
            </a: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enerative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 agent </a:t>
            </a: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pidemic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 model?</a:t>
            </a:r>
          </a:p>
        </p:txBody>
      </p:sp>
    </p:spTree>
    <p:extLst>
      <p:ext uri="{BB962C8B-B14F-4D97-AF65-F5344CB8AC3E}">
        <p14:creationId xmlns:p14="http://schemas.microsoft.com/office/powerpoint/2010/main" val="1321852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MEET OUR TEAM">
            <a:extLst>
              <a:ext uri="{FF2B5EF4-FFF2-40B4-BE49-F238E27FC236}">
                <a16:creationId xmlns:a16="http://schemas.microsoft.com/office/drawing/2014/main" id="{58A4615E-0D05-CF5D-9595-2B44F20A207D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Results from our generative epidemic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4DC9C9-D70C-C9FA-8EB3-7838CEF8B4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3321"/>
          <a:stretch/>
        </p:blipFill>
        <p:spPr>
          <a:xfrm>
            <a:off x="400179" y="932748"/>
            <a:ext cx="5898453" cy="28874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572B37-A367-C964-F1E3-BD806F4AE0A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3321"/>
          <a:stretch/>
        </p:blipFill>
        <p:spPr>
          <a:xfrm>
            <a:off x="6298632" y="932748"/>
            <a:ext cx="5691116" cy="28046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7D2D309-C315-8891-28AF-47359446D850}"/>
              </a:ext>
            </a:extLst>
          </p:cNvPr>
          <p:cNvSpPr txBox="1"/>
          <p:nvPr/>
        </p:nvSpPr>
        <p:spPr>
          <a:xfrm>
            <a:off x="9369470" y="296936"/>
            <a:ext cx="2715812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 Agents, 10 runs, 80% CI</a:t>
            </a:r>
            <a:endParaRPr lang="en-US" sz="2000" dirty="0">
              <a:solidFill>
                <a:schemeClr val="accent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6FB489-2E9C-A5A4-96CC-D783DA5A0DEF}"/>
              </a:ext>
            </a:extLst>
          </p:cNvPr>
          <p:cNvGrpSpPr/>
          <p:nvPr/>
        </p:nvGrpSpPr>
        <p:grpSpPr>
          <a:xfrm>
            <a:off x="5671468" y="3820221"/>
            <a:ext cx="6520532" cy="3092021"/>
            <a:chOff x="0" y="3879121"/>
            <a:chExt cx="7103660" cy="3108532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B8D7472-D396-CC0C-F90D-E13FD5F9AB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43750"/>
            <a:stretch/>
          </p:blipFill>
          <p:spPr>
            <a:xfrm>
              <a:off x="0" y="3879121"/>
              <a:ext cx="6858000" cy="2978879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4CC7AA-9A86-6A07-D9B0-623D74BAE74F}"/>
                </a:ext>
              </a:extLst>
            </p:cNvPr>
            <p:cNvSpPr/>
            <p:nvPr/>
          </p:nvSpPr>
          <p:spPr>
            <a:xfrm>
              <a:off x="5738884" y="4128447"/>
              <a:ext cx="1364776" cy="2859206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rIns="45719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8D9E2AB1-0FBD-A268-21FC-62FD5E39EB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245" y="3903018"/>
            <a:ext cx="5195155" cy="267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55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MEET OUR TEAM">
            <a:extLst>
              <a:ext uri="{FF2B5EF4-FFF2-40B4-BE49-F238E27FC236}">
                <a16:creationId xmlns:a16="http://schemas.microsoft.com/office/drawing/2014/main" id="{58A4615E-0D05-CF5D-9595-2B44F20A207D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Results from our generative epidemic model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43CD4A-C370-4F4C-DE3C-F668BCDC6953}"/>
              </a:ext>
            </a:extLst>
          </p:cNvPr>
          <p:cNvSpPr txBox="1"/>
          <p:nvPr/>
        </p:nvSpPr>
        <p:spPr>
          <a:xfrm>
            <a:off x="3634731" y="887084"/>
            <a:ext cx="3125460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1000 Agents, full feedback, 1 run</a:t>
            </a:r>
            <a:endParaRPr lang="en-US" sz="2000" dirty="0">
              <a:solidFill>
                <a:schemeClr val="accent2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E2E36D8-238F-D70E-7116-90C698EEBF32}"/>
              </a:ext>
            </a:extLst>
          </p:cNvPr>
          <p:cNvGrpSpPr/>
          <p:nvPr/>
        </p:nvGrpSpPr>
        <p:grpSpPr>
          <a:xfrm>
            <a:off x="5671468" y="3820221"/>
            <a:ext cx="6520532" cy="3092021"/>
            <a:chOff x="0" y="3879121"/>
            <a:chExt cx="7103660" cy="3108532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CAC931D-7211-1B50-971B-93C17EFD74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43750"/>
            <a:stretch/>
          </p:blipFill>
          <p:spPr>
            <a:xfrm>
              <a:off x="0" y="3879121"/>
              <a:ext cx="6858000" cy="2978879"/>
            </a:xfrm>
            <a:prstGeom prst="rect">
              <a:avLst/>
            </a:prstGeom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0D26F35-2CD7-2E3B-7802-873A65F7381F}"/>
                </a:ext>
              </a:extLst>
            </p:cNvPr>
            <p:cNvSpPr/>
            <p:nvPr/>
          </p:nvSpPr>
          <p:spPr>
            <a:xfrm>
              <a:off x="5738884" y="4128447"/>
              <a:ext cx="1364776" cy="2859206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rIns="45719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24717EEF-F020-0D73-FD48-9F42E3F62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245" y="3903018"/>
            <a:ext cx="5195155" cy="267133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4E14AF8-87A5-E7C7-EADB-BEE47B7DF13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9756" t="49793" r="1"/>
          <a:stretch/>
        </p:blipFill>
        <p:spPr>
          <a:xfrm>
            <a:off x="400179" y="821313"/>
            <a:ext cx="3649424" cy="276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01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MEET OUR TEAM">
            <a:extLst>
              <a:ext uri="{FF2B5EF4-FFF2-40B4-BE49-F238E27FC236}">
                <a16:creationId xmlns:a16="http://schemas.microsoft.com/office/drawing/2014/main" id="{58A4615E-0D05-CF5D-9595-2B44F20A207D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Results from our generative epidemic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D7171F-AF29-F41D-E076-52DBA10FBB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756" t="49793" r="1"/>
          <a:stretch/>
        </p:blipFill>
        <p:spPr>
          <a:xfrm>
            <a:off x="400179" y="821313"/>
            <a:ext cx="3649424" cy="2766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5D4880-5E78-1F48-461E-5807D8BC3832}"/>
                  </a:ext>
                </a:extLst>
              </p:cNvPr>
              <p:cNvSpPr txBox="1"/>
              <p:nvPr/>
            </p:nvSpPr>
            <p:spPr>
              <a:xfrm>
                <a:off x="162682" y="4753959"/>
                <a:ext cx="5601256" cy="57169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(1+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𝑑𝑒𝑎𝑡h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𝑟𝑎𝑡𝑒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𝑝𝑒𝑟𝑐𝑒𝑖𝑣𝑒𝑑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∗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𝑆𝑒𝑛𝑠𝑖𝑡𝑖𝑣𝑖𝑡𝑦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𝑡𝑜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𝑑𝑒𝑎𝑡h</m:t>
                              </m:r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  <m:t>𝑃𝑊𝑅𝑖𝑠𝑘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5D4880-5E78-1F48-461E-5807D8BC3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82" y="4753959"/>
                <a:ext cx="5601256" cy="571695"/>
              </a:xfrm>
              <a:prstGeom prst="rect">
                <a:avLst/>
              </a:prstGeom>
              <a:blipFill>
                <a:blip r:embed="rId5"/>
                <a:stretch>
                  <a:fillRect l="-109" r="-54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A conceptual representation of SEIRb. Boxes represent state variables... |  Download Scientific Diagram">
            <a:extLst>
              <a:ext uri="{FF2B5EF4-FFF2-40B4-BE49-F238E27FC236}">
                <a16:creationId xmlns:a16="http://schemas.microsoft.com/office/drawing/2014/main" id="{E7C7691D-5086-3363-B9B0-3625E5621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274" y="1064684"/>
            <a:ext cx="8096250" cy="378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BB9B70-ED0F-CF12-51C4-36A68D88D044}"/>
              </a:ext>
            </a:extLst>
          </p:cNvPr>
          <p:cNvSpPr txBox="1"/>
          <p:nvPr/>
        </p:nvSpPr>
        <p:spPr>
          <a:xfrm>
            <a:off x="1121364" y="4318398"/>
            <a:ext cx="9239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chemeClr val="accent2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D6020C-2430-181A-239A-C5A7E3EA31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8640" y="4572000"/>
            <a:ext cx="3984706" cy="21359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08D954-E292-40CA-295C-0BD06E3C2C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4579" y="5172183"/>
            <a:ext cx="1912785" cy="121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Timeline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806064-DE4C-897D-BBCE-C4E41CD2A26C}"/>
              </a:ext>
            </a:extLst>
          </p:cNvPr>
          <p:cNvGrpSpPr/>
          <p:nvPr/>
        </p:nvGrpSpPr>
        <p:grpSpPr>
          <a:xfrm>
            <a:off x="302319" y="2628282"/>
            <a:ext cx="3084716" cy="2633342"/>
            <a:chOff x="302319" y="2628282"/>
            <a:chExt cx="3084716" cy="2633342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2782D19-0FC3-8DAD-C684-6D398F11B9E1}"/>
                </a:ext>
              </a:extLst>
            </p:cNvPr>
            <p:cNvSpPr txBox="1"/>
            <p:nvPr/>
          </p:nvSpPr>
          <p:spPr>
            <a:xfrm>
              <a:off x="302319" y="4061297"/>
              <a:ext cx="3084716" cy="12003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What is generative agent-based modeling?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170B301-1A12-5D51-70E3-613C771CC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179" y="2628282"/>
              <a:ext cx="2986856" cy="1136125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422F520-1C05-CB69-9392-F5F5F6CCB9E6}"/>
              </a:ext>
            </a:extLst>
          </p:cNvPr>
          <p:cNvGrpSpPr/>
          <p:nvPr/>
        </p:nvGrpSpPr>
        <p:grpSpPr>
          <a:xfrm>
            <a:off x="3976295" y="1213728"/>
            <a:ext cx="3711196" cy="3726109"/>
            <a:chOff x="3976295" y="1213728"/>
            <a:chExt cx="3711196" cy="3726109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CE259E7-DA1A-E5F3-542C-E8F69F7AE4B0}"/>
                </a:ext>
              </a:extLst>
            </p:cNvPr>
            <p:cNvSpPr txBox="1"/>
            <p:nvPr/>
          </p:nvSpPr>
          <p:spPr>
            <a:xfrm>
              <a:off x="4185679" y="4108842"/>
              <a:ext cx="3292427" cy="8309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Our generative agent epidemic model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E630E28-59D6-D7D3-627E-D8EF9CC9E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76295" y="1213728"/>
              <a:ext cx="3711196" cy="2550679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7A089CB-D920-C4B9-613E-E204323CB338}"/>
              </a:ext>
            </a:extLst>
          </p:cNvPr>
          <p:cNvGrpSpPr/>
          <p:nvPr/>
        </p:nvGrpSpPr>
        <p:grpSpPr>
          <a:xfrm>
            <a:off x="8026447" y="1340845"/>
            <a:ext cx="3976320" cy="3596734"/>
            <a:chOff x="8026447" y="1340845"/>
            <a:chExt cx="3976320" cy="359673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E92A84E-B4AC-A45E-6737-40616C5E1E24}"/>
                </a:ext>
              </a:extLst>
            </p:cNvPr>
            <p:cNvSpPr txBox="1"/>
            <p:nvPr/>
          </p:nvSpPr>
          <p:spPr>
            <a:xfrm>
              <a:off x="8537660" y="4106584"/>
              <a:ext cx="3292427" cy="8309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sz="2400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What is prompt sensitivity analysis?</a:t>
              </a:r>
              <a:endParaRPr kumimoji="0" lang="en-US" sz="24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F8267E3-6C17-B138-C0C8-B5FF83089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26447" y="1340845"/>
              <a:ext cx="3976320" cy="24235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7350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215336"/>
            <a:ext cx="11564324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prompt sensitivity analysis and why is it important? </a:t>
            </a:r>
          </a:p>
        </p:txBody>
      </p:sp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6618B8-C628-8B63-0055-06081B44D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76" y="1294859"/>
            <a:ext cx="3218057" cy="21718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D4BA0F-3457-7660-22C1-A78B44AFA0E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31" t="1458" r="2723" b="65839"/>
          <a:stretch/>
        </p:blipFill>
        <p:spPr>
          <a:xfrm>
            <a:off x="4172908" y="1294859"/>
            <a:ext cx="3923628" cy="19795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8B733E-2220-B1A3-C1B7-F0E5AF62C6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12" y="3759692"/>
            <a:ext cx="5599160" cy="2882972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9AD77186-5A5D-9CAD-B9F6-4CF59B66E0FC}"/>
              </a:ext>
            </a:extLst>
          </p:cNvPr>
          <p:cNvGrpSpPr/>
          <p:nvPr/>
        </p:nvGrpSpPr>
        <p:grpSpPr>
          <a:xfrm>
            <a:off x="8423711" y="1249786"/>
            <a:ext cx="3565848" cy="1848522"/>
            <a:chOff x="859373" y="2252252"/>
            <a:chExt cx="5472971" cy="2948926"/>
          </a:xfrm>
        </p:grpSpPr>
        <p:pic>
          <p:nvPicPr>
            <p:cNvPr id="30722" name="Picture 2" descr="Video] Tipping Point Analysis in Multiple Imputation for Binary Missing Data">
              <a:extLst>
                <a:ext uri="{FF2B5EF4-FFF2-40B4-BE49-F238E27FC236}">
                  <a16:creationId xmlns:a16="http://schemas.microsoft.com/office/drawing/2014/main" id="{45C1D157-045D-A063-3523-37ECF6E378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57" t="20140" r="14476" b="18549"/>
            <a:stretch/>
          </p:blipFill>
          <p:spPr bwMode="auto">
            <a:xfrm>
              <a:off x="859373" y="2520655"/>
              <a:ext cx="5377218" cy="2680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B2E2845-BC0C-D8EA-2BC3-0DEE1205E162}"/>
                </a:ext>
              </a:extLst>
            </p:cNvPr>
            <p:cNvSpPr/>
            <p:nvPr/>
          </p:nvSpPr>
          <p:spPr>
            <a:xfrm>
              <a:off x="4251060" y="2252252"/>
              <a:ext cx="2081284" cy="361348"/>
            </a:xfrm>
            <a:prstGeom prst="roundRect">
              <a:avLst/>
            </a:prstGeom>
            <a:solidFill>
              <a:schemeClr val="bg1"/>
            </a:solidFill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45719" rIns="45719" rtlCol="0" anchor="ctr">
              <a:sp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CCC5EE8-84FA-F354-C072-9A4D1B0BDD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927" y="3769694"/>
            <a:ext cx="5625424" cy="290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4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D65B4A5-B0F5-4575-E4A1-D2799B789A43}"/>
              </a:ext>
            </a:extLst>
          </p:cNvPr>
          <p:cNvGrpSpPr/>
          <p:nvPr/>
        </p:nvGrpSpPr>
        <p:grpSpPr>
          <a:xfrm>
            <a:off x="277157" y="2737449"/>
            <a:ext cx="7548583" cy="4006707"/>
            <a:chOff x="277157" y="2737449"/>
            <a:chExt cx="7548583" cy="4006707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A8B8054-2490-A2DA-877E-12CE6519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7157" y="2737449"/>
              <a:ext cx="7537370" cy="400670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6DDF14E-E933-678B-B421-A359F8935AFE}"/>
                </a:ext>
              </a:extLst>
            </p:cNvPr>
            <p:cNvSpPr txBox="1"/>
            <p:nvPr/>
          </p:nvSpPr>
          <p:spPr>
            <a:xfrm>
              <a:off x="7013236" y="2775212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(1)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4FBB4F6-06F3-B3AB-0729-FEF8C01B246B}"/>
                </a:ext>
              </a:extLst>
            </p:cNvPr>
            <p:cNvSpPr txBox="1"/>
            <p:nvPr/>
          </p:nvSpPr>
          <p:spPr>
            <a:xfrm>
              <a:off x="3097975" y="4750032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(1)</a:t>
              </a:r>
            </a:p>
          </p:txBody>
        </p:sp>
      </p:grpSp>
      <p:sp>
        <p:nvSpPr>
          <p:cNvPr id="28" name="MEET OUR TEAM">
            <a:extLst>
              <a:ext uri="{FF2B5EF4-FFF2-40B4-BE49-F238E27FC236}">
                <a16:creationId xmlns:a16="http://schemas.microsoft.com/office/drawing/2014/main" id="{72DF2E35-FB5F-9A83-507C-69C6F6CCF579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prompt sensitivity analysis? </a:t>
            </a:r>
          </a:p>
        </p:txBody>
      </p:sp>
    </p:spTree>
    <p:extLst>
      <p:ext uri="{BB962C8B-B14F-4D97-AF65-F5344CB8AC3E}">
        <p14:creationId xmlns:p14="http://schemas.microsoft.com/office/powerpoint/2010/main" val="247542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B306724-B0C3-32A5-9539-3E5468A58F4A}"/>
              </a:ext>
            </a:extLst>
          </p:cNvPr>
          <p:cNvGrpSpPr/>
          <p:nvPr/>
        </p:nvGrpSpPr>
        <p:grpSpPr>
          <a:xfrm>
            <a:off x="277157" y="2737449"/>
            <a:ext cx="7548583" cy="4006707"/>
            <a:chOff x="277157" y="2737449"/>
            <a:chExt cx="7548583" cy="400670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388367A-E8A7-A390-E02F-E87310A1C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7157" y="2737449"/>
              <a:ext cx="7537370" cy="400670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4F0F63-9A64-D5A9-B7A8-5AC427350804}"/>
                </a:ext>
              </a:extLst>
            </p:cNvPr>
            <p:cNvSpPr txBox="1"/>
            <p:nvPr/>
          </p:nvSpPr>
          <p:spPr>
            <a:xfrm>
              <a:off x="7013236" y="2775212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(1)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B406F3-C9BB-DDBE-9627-2CA9E9118DA0}"/>
                </a:ext>
              </a:extLst>
            </p:cNvPr>
            <p:cNvSpPr txBox="1"/>
            <p:nvPr/>
          </p:nvSpPr>
          <p:spPr>
            <a:xfrm>
              <a:off x="3097975" y="4750032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(1)</a:t>
              </a:r>
            </a:p>
          </p:txBody>
        </p:sp>
      </p:grpSp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8309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prompt sensitivity analysis?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5E640DE-55BA-9D71-4A94-2BDD53C1F7F7}"/>
              </a:ext>
            </a:extLst>
          </p:cNvPr>
          <p:cNvGrpSpPr/>
          <p:nvPr/>
        </p:nvGrpSpPr>
        <p:grpSpPr>
          <a:xfrm>
            <a:off x="3910479" y="4750032"/>
            <a:ext cx="3939324" cy="2037908"/>
            <a:chOff x="3889612" y="4726576"/>
            <a:chExt cx="3939324" cy="2037908"/>
          </a:xfrm>
        </p:grpSpPr>
        <p:pic>
          <p:nvPicPr>
            <p:cNvPr id="10" name="Picture 9" descr="A group of white cards with black text&#10;&#10;Description automatically generated">
              <a:extLst>
                <a:ext uri="{FF2B5EF4-FFF2-40B4-BE49-F238E27FC236}">
                  <a16:creationId xmlns:a16="http://schemas.microsoft.com/office/drawing/2014/main" id="{79E8CA6A-2998-AEF2-243E-6040E0412F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7783" t="49418"/>
            <a:stretch/>
          </p:blipFill>
          <p:spPr>
            <a:xfrm>
              <a:off x="3889612" y="4726576"/>
              <a:ext cx="3939324" cy="203790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2AD667-01C8-5BF4-5D28-127D08208B6A}"/>
                </a:ext>
              </a:extLst>
            </p:cNvPr>
            <p:cNvSpPr txBox="1"/>
            <p:nvPr/>
          </p:nvSpPr>
          <p:spPr>
            <a:xfrm>
              <a:off x="6992369" y="4764339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(2)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317489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analysis,</a:t>
            </a: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prompt sensitivity analysis?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E6F338-E097-260B-1E44-25CC44EB0611}"/>
              </a:ext>
            </a:extLst>
          </p:cNvPr>
          <p:cNvGrpSpPr/>
          <p:nvPr/>
        </p:nvGrpSpPr>
        <p:grpSpPr>
          <a:xfrm>
            <a:off x="7803679" y="2735579"/>
            <a:ext cx="4245313" cy="4028905"/>
            <a:chOff x="7803679" y="2735579"/>
            <a:chExt cx="4245313" cy="4028905"/>
          </a:xfrm>
        </p:grpSpPr>
        <p:pic>
          <p:nvPicPr>
            <p:cNvPr id="9220" name="Picture 4" descr="Adobe Character Animator Ryan Puppet on Behance">
              <a:extLst>
                <a:ext uri="{FF2B5EF4-FFF2-40B4-BE49-F238E27FC236}">
                  <a16:creationId xmlns:a16="http://schemas.microsoft.com/office/drawing/2014/main" id="{E77EE326-4775-57E3-F435-514201FE1E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3679" y="2735579"/>
              <a:ext cx="4103542" cy="20517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22" name="Picture 6" descr="Adobe Character Animator Debbie Puppet on Behance">
              <a:extLst>
                <a:ext uri="{FF2B5EF4-FFF2-40B4-BE49-F238E27FC236}">
                  <a16:creationId xmlns:a16="http://schemas.microsoft.com/office/drawing/2014/main" id="{D99040A8-1EF0-550D-4DE6-6FAE3F0C19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3681" y="4712713"/>
              <a:ext cx="4103542" cy="20517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6E808F2-B426-9C2F-93B6-6F4E44F47647}"/>
                </a:ext>
              </a:extLst>
            </p:cNvPr>
            <p:cNvSpPr txBox="1"/>
            <p:nvPr/>
          </p:nvSpPr>
          <p:spPr>
            <a:xfrm>
              <a:off x="11236488" y="2775212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(3)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4820CFB-38D4-5974-F0D0-3E5F15D24F92}"/>
                </a:ext>
              </a:extLst>
            </p:cNvPr>
            <p:cNvSpPr txBox="1"/>
            <p:nvPr/>
          </p:nvSpPr>
          <p:spPr>
            <a:xfrm>
              <a:off x="11236488" y="4778599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2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Sequential sensitivity analysis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prompt sensitivity analysis? </a:t>
            </a:r>
          </a:p>
        </p:txBody>
      </p:sp>
      <p:pic>
        <p:nvPicPr>
          <p:cNvPr id="9220" name="Picture 4" descr="Adobe Character Animator Ryan Puppet on Behance">
            <a:extLst>
              <a:ext uri="{FF2B5EF4-FFF2-40B4-BE49-F238E27FC236}">
                <a16:creationId xmlns:a16="http://schemas.microsoft.com/office/drawing/2014/main" id="{E77EE326-4775-57E3-F435-514201FE1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79" y="2735579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dobe Character Animator Debbie Puppet on Behance">
            <a:extLst>
              <a:ext uri="{FF2B5EF4-FFF2-40B4-BE49-F238E27FC236}">
                <a16:creationId xmlns:a16="http://schemas.microsoft.com/office/drawing/2014/main" id="{D99040A8-1EF0-550D-4DE6-6FAE3F0C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81" y="4712713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605C2B-4594-1256-AC3F-6467499D61ED}"/>
              </a:ext>
            </a:extLst>
          </p:cNvPr>
          <p:cNvGrpSpPr/>
          <p:nvPr/>
        </p:nvGrpSpPr>
        <p:grpSpPr>
          <a:xfrm>
            <a:off x="7803676" y="472899"/>
            <a:ext cx="4245316" cy="2253873"/>
            <a:chOff x="7803676" y="472899"/>
            <a:chExt cx="4245316" cy="2253873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8CAC19B-D226-7981-3B36-2075E4F3A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03676" y="472899"/>
              <a:ext cx="4103547" cy="225387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75F8404-D9BB-DBC0-6BE5-10120028D98D}"/>
                </a:ext>
              </a:extLst>
            </p:cNvPr>
            <p:cNvSpPr txBox="1"/>
            <p:nvPr/>
          </p:nvSpPr>
          <p:spPr>
            <a:xfrm>
              <a:off x="11236488" y="485328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(4)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6E808F2-B426-9C2F-93B6-6F4E44F47647}"/>
              </a:ext>
            </a:extLst>
          </p:cNvPr>
          <p:cNvSpPr txBox="1"/>
          <p:nvPr/>
        </p:nvSpPr>
        <p:spPr>
          <a:xfrm>
            <a:off x="11236488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20CFB-38D4-5974-F0D0-3E5F15D24F92}"/>
              </a:ext>
            </a:extLst>
          </p:cNvPr>
          <p:cNvSpPr txBox="1"/>
          <p:nvPr/>
        </p:nvSpPr>
        <p:spPr>
          <a:xfrm>
            <a:off x="11236488" y="4778599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401067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569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Sequential sensitivity analysis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prompt sensitivity analysis? </a:t>
            </a:r>
          </a:p>
        </p:txBody>
      </p:sp>
      <p:pic>
        <p:nvPicPr>
          <p:cNvPr id="9220" name="Picture 4" descr="Adobe Character Animator Ryan Puppet on Behance">
            <a:extLst>
              <a:ext uri="{FF2B5EF4-FFF2-40B4-BE49-F238E27FC236}">
                <a16:creationId xmlns:a16="http://schemas.microsoft.com/office/drawing/2014/main" id="{E77EE326-4775-57E3-F435-514201FE1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79" y="2735579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dobe Character Animator Debbie Puppet on Behance">
            <a:extLst>
              <a:ext uri="{FF2B5EF4-FFF2-40B4-BE49-F238E27FC236}">
                <a16:creationId xmlns:a16="http://schemas.microsoft.com/office/drawing/2014/main" id="{D99040A8-1EF0-550D-4DE6-6FAE3F0C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81" y="4712713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605C2B-4594-1256-AC3F-6467499D61ED}"/>
              </a:ext>
            </a:extLst>
          </p:cNvPr>
          <p:cNvGrpSpPr/>
          <p:nvPr/>
        </p:nvGrpSpPr>
        <p:grpSpPr>
          <a:xfrm>
            <a:off x="7803676" y="472899"/>
            <a:ext cx="4245316" cy="2253873"/>
            <a:chOff x="7803676" y="472899"/>
            <a:chExt cx="4245316" cy="2253873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8CAC19B-D226-7981-3B36-2075E4F3A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03676" y="472899"/>
              <a:ext cx="4103547" cy="225387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75F8404-D9BB-DBC0-6BE5-10120028D98D}"/>
                </a:ext>
              </a:extLst>
            </p:cNvPr>
            <p:cNvSpPr txBox="1"/>
            <p:nvPr/>
          </p:nvSpPr>
          <p:spPr>
            <a:xfrm>
              <a:off x="11236488" y="485328"/>
              <a:ext cx="812504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</a:rPr>
                <a:t>(4)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6E808F2-B426-9C2F-93B6-6F4E44F47647}"/>
              </a:ext>
            </a:extLst>
          </p:cNvPr>
          <p:cNvSpPr txBox="1"/>
          <p:nvPr/>
        </p:nvSpPr>
        <p:spPr>
          <a:xfrm>
            <a:off x="11236488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20CFB-38D4-5974-F0D0-3E5F15D24F92}"/>
              </a:ext>
            </a:extLst>
          </p:cNvPr>
          <p:cNvSpPr txBox="1"/>
          <p:nvPr/>
        </p:nvSpPr>
        <p:spPr>
          <a:xfrm>
            <a:off x="11236488" y="4778599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92248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highlight>
                  <a:srgbClr val="84293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prompt sensitivity analysis? </a:t>
            </a:r>
          </a:p>
        </p:txBody>
      </p:sp>
      <p:pic>
        <p:nvPicPr>
          <p:cNvPr id="9220" name="Picture 4" descr="Adobe Character Animator Ryan Puppet on Behance">
            <a:extLst>
              <a:ext uri="{FF2B5EF4-FFF2-40B4-BE49-F238E27FC236}">
                <a16:creationId xmlns:a16="http://schemas.microsoft.com/office/drawing/2014/main" id="{E77EE326-4775-57E3-F435-514201FE1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79" y="2735579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dobe Character Animator Debbie Puppet on Behance">
            <a:extLst>
              <a:ext uri="{FF2B5EF4-FFF2-40B4-BE49-F238E27FC236}">
                <a16:creationId xmlns:a16="http://schemas.microsoft.com/office/drawing/2014/main" id="{D99040A8-1EF0-550D-4DE6-6FAE3F0C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81" y="4712713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808F2-B426-9C2F-93B6-6F4E44F47647}"/>
              </a:ext>
            </a:extLst>
          </p:cNvPr>
          <p:cNvSpPr txBox="1"/>
          <p:nvPr/>
        </p:nvSpPr>
        <p:spPr>
          <a:xfrm>
            <a:off x="11236488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20CFB-38D4-5974-F0D0-3E5F15D24F92}"/>
              </a:ext>
            </a:extLst>
          </p:cNvPr>
          <p:cNvSpPr txBox="1"/>
          <p:nvPr/>
        </p:nvSpPr>
        <p:spPr>
          <a:xfrm>
            <a:off x="11236488" y="4778599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342810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42660C-9A9D-049B-AE1A-8312D48A2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219" y="19305"/>
            <a:ext cx="2878781" cy="1528844"/>
          </a:xfrm>
          <a:prstGeom prst="rect">
            <a:avLst/>
          </a:prstGeom>
        </p:spPr>
      </p:pic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Variation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0DB975-A9DA-AE4E-3AE8-E25BC6464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1753888"/>
            <a:ext cx="3843754" cy="23427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D86E1B8-039E-0535-DF11-86861DDDDE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8680" y="4092574"/>
            <a:ext cx="3838683" cy="23427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F2E58AD-E4C7-0741-B264-4879EF2876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" y="4096651"/>
            <a:ext cx="3838684" cy="23346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/>
              <p:nvPr/>
            </p:nvSpPr>
            <p:spPr>
              <a:xfrm>
                <a:off x="3975160" y="1759987"/>
                <a:ext cx="6103914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𝑁𝑒𝑤𝐶𝑎𝑠𝑒𝑠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𝑒𝑤𝐶𝑎𝑠𝑒𝑠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𝐴𝑤𝑎𝑟𝑒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160" y="1759987"/>
                <a:ext cx="6103914" cy="276999"/>
              </a:xfrm>
              <a:prstGeom prst="rect">
                <a:avLst/>
              </a:prstGeom>
              <a:blipFill>
                <a:blip r:embed="rId8"/>
                <a:stretch>
                  <a:fillRect l="-899" t="-4444" r="-500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/>
              <p:nvPr/>
            </p:nvSpPr>
            <p:spPr>
              <a:xfrm>
                <a:off x="3975160" y="2157389"/>
                <a:ext cx="6279027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𝑁𝐶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𝐴𝑤𝑎𝑟𝑒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NC</m:t>
                      </m:r>
                      <m: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Aware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160" y="2157389"/>
                <a:ext cx="6279027" cy="276999"/>
              </a:xfrm>
              <a:prstGeom prst="rect">
                <a:avLst/>
              </a:prstGeom>
              <a:blipFill>
                <a:blip r:embed="rId9"/>
                <a:stretch>
                  <a:fillRect l="-777" t="-4444" r="-485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7923D-D9B7-968E-A35F-325C3FCE50B3}"/>
                  </a:ext>
                </a:extLst>
              </p:cNvPr>
              <p:cNvSpPr txBox="1"/>
              <p:nvPr/>
            </p:nvSpPr>
            <p:spPr>
              <a:xfrm>
                <a:off x="3975160" y="2544321"/>
                <a:ext cx="8050193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𝑁𝐶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𝐴𝑤𝑎𝑟𝑒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NC</m:t>
                      </m:r>
                      <m: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Aware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NC</m:t>
                          </m:r>
                        </m:e>
                        <m:sup>
                          <m: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Aware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7923D-D9B7-968E-A35F-325C3FCE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160" y="2544321"/>
                <a:ext cx="8050193" cy="276999"/>
              </a:xfrm>
              <a:prstGeom prst="rect">
                <a:avLst/>
              </a:prstGeom>
              <a:blipFill>
                <a:blip r:embed="rId10"/>
                <a:stretch>
                  <a:fillRect l="-530" t="-4348" r="-227" b="-3260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98F7098-55EC-7B4A-4BBD-FB69E2CEEF2A}"/>
              </a:ext>
            </a:extLst>
          </p:cNvPr>
          <p:cNvGrpSpPr/>
          <p:nvPr/>
        </p:nvGrpSpPr>
        <p:grpSpPr>
          <a:xfrm>
            <a:off x="3975160" y="2935992"/>
            <a:ext cx="7767260" cy="1061333"/>
            <a:chOff x="3975160" y="2935992"/>
            <a:chExt cx="7767260" cy="10613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8F2DADF-E6AC-A570-D7CF-2A99A24B6203}"/>
                    </a:ext>
                  </a:extLst>
                </p:cNvPr>
                <p:cNvSpPr txBox="1"/>
                <p:nvPr/>
              </p:nvSpPr>
              <p:spPr>
                <a:xfrm>
                  <a:off x="3975160" y="2935992"/>
                  <a:ext cx="6043514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𝑁𝑒𝑤𝐶𝑎𝑠𝑒𝑠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</m:t>
                        </m:r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𝑒𝑤𝐶𝑎𝑠𝑒𝑠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𝐿𝑒𝑎𝑟𝑛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8F2DADF-E6AC-A570-D7CF-2A99A24B62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60" y="2935992"/>
                  <a:ext cx="6043514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908" t="-4444" r="-605" b="-3555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10F31A-C21D-BA3A-1E96-B7858630FE45}"/>
                    </a:ext>
                  </a:extLst>
                </p:cNvPr>
                <p:cNvSpPr txBox="1"/>
                <p:nvPr/>
              </p:nvSpPr>
              <p:spPr>
                <a:xfrm>
                  <a:off x="3975160" y="3333394"/>
                  <a:ext cx="6138604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𝑁𝐶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𝑁𝐶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𝐿𝑒𝑎𝑟𝑛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NC</m:t>
                        </m:r>
                        <m: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Learn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10F31A-C21D-BA3A-1E96-B7858630FE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60" y="3333394"/>
                  <a:ext cx="6138604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894" t="-4444" r="-596" b="-3555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656217F-3A47-2D2E-8D5C-4286476A130F}"/>
                    </a:ext>
                  </a:extLst>
                </p:cNvPr>
                <p:cNvSpPr txBox="1"/>
                <p:nvPr/>
              </p:nvSpPr>
              <p:spPr>
                <a:xfrm>
                  <a:off x="3975160" y="3720326"/>
                  <a:ext cx="776726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𝑁𝐶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𝑁𝐶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𝐿𝑒𝑎𝑟𝑛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NC</m:t>
                        </m:r>
                        <m: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Learn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5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NC</m:t>
                            </m:r>
                          </m:e>
                          <m:sup>
                            <m:r>
                              <a:rPr lang="en-US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Learn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656217F-3A47-2D2E-8D5C-4286476A13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60" y="3720326"/>
                  <a:ext cx="7767260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020" t="-4348" r="-785" b="-3260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ECD5CBD-143D-6E2C-3472-1496B7511121}"/>
              </a:ext>
            </a:extLst>
          </p:cNvPr>
          <p:cNvSpPr txBox="1"/>
          <p:nvPr/>
        </p:nvSpPr>
        <p:spPr>
          <a:xfrm>
            <a:off x="6448849" y="998995"/>
            <a:ext cx="271581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 Agents, 5 runs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42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8" grpId="0"/>
      <p:bldP spid="3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42660C-9A9D-049B-AE1A-8312D48A2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219" y="19305"/>
            <a:ext cx="2878781" cy="1528844"/>
          </a:xfrm>
          <a:prstGeom prst="rect">
            <a:avLst/>
          </a:prstGeom>
        </p:spPr>
      </p:pic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Variation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0DB975-A9DA-AE4E-3AE8-E25BC6464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1753888"/>
            <a:ext cx="3843754" cy="234276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D86E1B8-039E-0535-DF11-86861DDDDE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8680" y="4092574"/>
            <a:ext cx="3838683" cy="23427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F2E58AD-E4C7-0741-B264-4879EF2876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" y="4096651"/>
            <a:ext cx="3838684" cy="23346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/>
              <p:nvPr/>
            </p:nvSpPr>
            <p:spPr>
              <a:xfrm>
                <a:off x="3975160" y="1759987"/>
                <a:ext cx="6103914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𝑁𝑒𝑤𝐶𝑎𝑠𝑒𝑠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𝑒𝑤𝐶𝑎𝑠𝑒𝑠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𝐴𝑤𝑎𝑟𝑒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160" y="1759987"/>
                <a:ext cx="6103914" cy="276999"/>
              </a:xfrm>
              <a:prstGeom prst="rect">
                <a:avLst/>
              </a:prstGeom>
              <a:blipFill>
                <a:blip r:embed="rId8"/>
                <a:stretch>
                  <a:fillRect l="-899" t="-4444" r="-500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/>
              <p:nvPr/>
            </p:nvSpPr>
            <p:spPr>
              <a:xfrm>
                <a:off x="3975160" y="2157389"/>
                <a:ext cx="6279027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𝑁𝐶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𝐴𝑤𝑎𝑟𝑒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NC</m:t>
                      </m:r>
                      <m: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Aware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160" y="2157389"/>
                <a:ext cx="6279027" cy="276999"/>
              </a:xfrm>
              <a:prstGeom prst="rect">
                <a:avLst/>
              </a:prstGeom>
              <a:blipFill>
                <a:blip r:embed="rId9"/>
                <a:stretch>
                  <a:fillRect l="-777" t="-4444" r="-485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7923D-D9B7-968E-A35F-325C3FCE50B3}"/>
                  </a:ext>
                </a:extLst>
              </p:cNvPr>
              <p:cNvSpPr txBox="1"/>
              <p:nvPr/>
            </p:nvSpPr>
            <p:spPr>
              <a:xfrm>
                <a:off x="3975160" y="2544321"/>
                <a:ext cx="8050193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𝑁𝐶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𝐴𝑤𝑎𝑟𝑒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NC</m:t>
                      </m:r>
                      <m:r>
                        <a:rPr lang="en-US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Aware</m:t>
                      </m:r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NC</m:t>
                          </m:r>
                        </m:e>
                        <m:sup>
                          <m: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Aware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7923D-D9B7-968E-A35F-325C3FCE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160" y="2544321"/>
                <a:ext cx="8050193" cy="276999"/>
              </a:xfrm>
              <a:prstGeom prst="rect">
                <a:avLst/>
              </a:prstGeom>
              <a:blipFill>
                <a:blip r:embed="rId10"/>
                <a:stretch>
                  <a:fillRect l="-530" t="-4348" r="-227" b="-3260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98F7098-55EC-7B4A-4BBD-FB69E2CEEF2A}"/>
              </a:ext>
            </a:extLst>
          </p:cNvPr>
          <p:cNvGrpSpPr/>
          <p:nvPr/>
        </p:nvGrpSpPr>
        <p:grpSpPr>
          <a:xfrm>
            <a:off x="3975160" y="2935992"/>
            <a:ext cx="7767260" cy="1061333"/>
            <a:chOff x="3975160" y="2935992"/>
            <a:chExt cx="7767260" cy="10613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8F2DADF-E6AC-A570-D7CF-2A99A24B6203}"/>
                    </a:ext>
                  </a:extLst>
                </p:cNvPr>
                <p:cNvSpPr txBox="1"/>
                <p:nvPr/>
              </p:nvSpPr>
              <p:spPr>
                <a:xfrm>
                  <a:off x="3975160" y="2935992"/>
                  <a:ext cx="6043514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𝑁𝑒𝑤𝐶𝑎𝑠𝑒𝑠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</m:t>
                        </m:r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𝑒𝑤𝐶𝑎𝑠𝑒𝑠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𝐿𝑒𝑎𝑟𝑛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8F2DADF-E6AC-A570-D7CF-2A99A24B62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60" y="2935992"/>
                  <a:ext cx="6043514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908" t="-4444" r="-605" b="-3555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10F31A-C21D-BA3A-1E96-B7858630FE45}"/>
                    </a:ext>
                  </a:extLst>
                </p:cNvPr>
                <p:cNvSpPr txBox="1"/>
                <p:nvPr/>
              </p:nvSpPr>
              <p:spPr>
                <a:xfrm>
                  <a:off x="3975160" y="3333394"/>
                  <a:ext cx="6138604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𝑁𝐶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𝑁𝐶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𝐿𝑒𝑎𝑟𝑛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NC</m:t>
                        </m:r>
                        <m: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Learn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10F31A-C21D-BA3A-1E96-B7858630FE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60" y="3333394"/>
                  <a:ext cx="6138604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894" t="-4444" r="-596" b="-3555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656217F-3A47-2D2E-8D5C-4286476A130F}"/>
                    </a:ext>
                  </a:extLst>
                </p:cNvPr>
                <p:cNvSpPr txBox="1"/>
                <p:nvPr/>
              </p:nvSpPr>
              <p:spPr>
                <a:xfrm>
                  <a:off x="3975160" y="3720326"/>
                  <a:ext cx="776726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𝑁𝐶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𝑁𝐶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𝐿𝑒𝑎𝑟𝑛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NC</m:t>
                        </m:r>
                        <m: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Learn</m:t>
                        </m:r>
                        <m: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5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NC</m:t>
                            </m:r>
                          </m:e>
                          <m:sup>
                            <m:r>
                              <a:rPr lang="en-US" b="0" i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Learn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656217F-3A47-2D2E-8D5C-4286476A13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60" y="3720326"/>
                  <a:ext cx="7767260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1020" t="-4348" r="-785" b="-3260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DF69CEE-9F09-DED5-A637-54DE93285016}"/>
              </a:ext>
            </a:extLst>
          </p:cNvPr>
          <p:cNvSpPr txBox="1"/>
          <p:nvPr/>
        </p:nvSpPr>
        <p:spPr>
          <a:xfrm>
            <a:off x="10324782" y="1658082"/>
            <a:ext cx="1359887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Aware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649EA6-4E8B-647E-E9DB-FC7FFAE38D59}"/>
              </a:ext>
            </a:extLst>
          </p:cNvPr>
          <p:cNvSpPr txBox="1"/>
          <p:nvPr/>
        </p:nvSpPr>
        <p:spPr>
          <a:xfrm>
            <a:off x="10324782" y="2041314"/>
            <a:ext cx="1359887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Aware</a:t>
            </a:r>
            <a:r>
              <a:rPr lang="en-US" sz="2400" b="1" kern="0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2</a:t>
            </a:r>
            <a:endParaRPr kumimoji="0" lang="en-US" sz="2400" b="1" i="0" u="none" strike="noStrike" kern="0" cap="none" spc="0" normalizeH="0" baseline="-2500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D07E1-ACF2-E9A0-A8D2-8EF0C1F545FE}"/>
              </a:ext>
            </a:extLst>
          </p:cNvPr>
          <p:cNvSpPr txBox="1"/>
          <p:nvPr/>
        </p:nvSpPr>
        <p:spPr>
          <a:xfrm>
            <a:off x="10382533" y="2862662"/>
            <a:ext cx="1359887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Learn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4F17C9-6D64-C018-D7B8-BDA75C6C55A4}"/>
              </a:ext>
            </a:extLst>
          </p:cNvPr>
          <p:cNvSpPr txBox="1"/>
          <p:nvPr/>
        </p:nvSpPr>
        <p:spPr>
          <a:xfrm>
            <a:off x="10382533" y="3198167"/>
            <a:ext cx="1359887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Learn</a:t>
            </a:r>
            <a:r>
              <a:rPr lang="en-US" sz="2400" b="1" kern="0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2</a:t>
            </a:r>
            <a:endParaRPr kumimoji="0" lang="en-US" sz="2400" b="1" i="0" u="none" strike="noStrike" kern="0" cap="none" spc="0" normalizeH="0" baseline="-2500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15853E-4B80-9CC4-FB6C-4B1DD859E596}"/>
              </a:ext>
            </a:extLst>
          </p:cNvPr>
          <p:cNvSpPr txBox="1"/>
          <p:nvPr/>
        </p:nvSpPr>
        <p:spPr>
          <a:xfrm>
            <a:off x="6448849" y="998995"/>
            <a:ext cx="271581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 Agents, 5 runs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947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Variation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B73A3C3-09CD-C952-2DB5-0455A2FD7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967313"/>
              </p:ext>
            </p:extLst>
          </p:nvPr>
        </p:nvGraphicFramePr>
        <p:xfrm>
          <a:off x="998805" y="3839393"/>
          <a:ext cx="10032472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59">
                  <a:extLst>
                    <a:ext uri="{9D8B030D-6E8A-4147-A177-3AD203B41FA5}">
                      <a16:colId xmlns:a16="http://schemas.microsoft.com/office/drawing/2014/main" val="820701274"/>
                    </a:ext>
                  </a:extLst>
                </a:gridCol>
                <a:gridCol w="1254059">
                  <a:extLst>
                    <a:ext uri="{9D8B030D-6E8A-4147-A177-3AD203B41FA5}">
                      <a16:colId xmlns:a16="http://schemas.microsoft.com/office/drawing/2014/main" val="3715058434"/>
                    </a:ext>
                  </a:extLst>
                </a:gridCol>
                <a:gridCol w="1254059">
                  <a:extLst>
                    <a:ext uri="{9D8B030D-6E8A-4147-A177-3AD203B41FA5}">
                      <a16:colId xmlns:a16="http://schemas.microsoft.com/office/drawing/2014/main" val="3908031248"/>
                    </a:ext>
                  </a:extLst>
                </a:gridCol>
                <a:gridCol w="1254059">
                  <a:extLst>
                    <a:ext uri="{9D8B030D-6E8A-4147-A177-3AD203B41FA5}">
                      <a16:colId xmlns:a16="http://schemas.microsoft.com/office/drawing/2014/main" val="434091579"/>
                    </a:ext>
                  </a:extLst>
                </a:gridCol>
                <a:gridCol w="1254059">
                  <a:extLst>
                    <a:ext uri="{9D8B030D-6E8A-4147-A177-3AD203B41FA5}">
                      <a16:colId xmlns:a16="http://schemas.microsoft.com/office/drawing/2014/main" val="592120850"/>
                    </a:ext>
                  </a:extLst>
                </a:gridCol>
                <a:gridCol w="1254059">
                  <a:extLst>
                    <a:ext uri="{9D8B030D-6E8A-4147-A177-3AD203B41FA5}">
                      <a16:colId xmlns:a16="http://schemas.microsoft.com/office/drawing/2014/main" val="3720329454"/>
                    </a:ext>
                  </a:extLst>
                </a:gridCol>
                <a:gridCol w="1254059">
                  <a:extLst>
                    <a:ext uri="{9D8B030D-6E8A-4147-A177-3AD203B41FA5}">
                      <a16:colId xmlns:a16="http://schemas.microsoft.com/office/drawing/2014/main" val="950135029"/>
                    </a:ext>
                  </a:extLst>
                </a:gridCol>
                <a:gridCol w="1254059">
                  <a:extLst>
                    <a:ext uri="{9D8B030D-6E8A-4147-A177-3AD203B41FA5}">
                      <a16:colId xmlns:a16="http://schemas.microsoft.com/office/drawing/2014/main" val="17157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Equation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30000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200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Aware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-24.54***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172.82***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557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Aware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-23.98***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170.69***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153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Learn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0.94***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-27.03***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196.66***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-0.10***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088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Learn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-25.84***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192.91***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-0.07**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-1.81*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162012"/>
                  </a:ext>
                </a:extLst>
              </a:tr>
            </a:tbl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15505AA6-0D4B-E188-5D8F-62A4BA478075}"/>
              </a:ext>
            </a:extLst>
          </p:cNvPr>
          <p:cNvGrpSpPr/>
          <p:nvPr/>
        </p:nvGrpSpPr>
        <p:grpSpPr>
          <a:xfrm>
            <a:off x="998805" y="1775419"/>
            <a:ext cx="9753803" cy="1597955"/>
            <a:chOff x="2680659" y="1659917"/>
            <a:chExt cx="9753803" cy="159795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DFF3212-017A-EDA8-3B9B-63803D9D0E92}"/>
                </a:ext>
              </a:extLst>
            </p:cNvPr>
            <p:cNvGrpSpPr/>
            <p:nvPr/>
          </p:nvGrpSpPr>
          <p:grpSpPr>
            <a:xfrm>
              <a:off x="3975160" y="1784430"/>
              <a:ext cx="8459302" cy="1473442"/>
              <a:chOff x="3975160" y="1784430"/>
              <a:chExt cx="8459302" cy="14734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5E809ABF-28F6-1222-20B2-076F2B65A223}"/>
                      </a:ext>
                    </a:extLst>
                  </p:cNvPr>
                  <p:cNvSpPr txBox="1"/>
                  <p:nvPr/>
                </p:nvSpPr>
                <p:spPr>
                  <a:xfrm>
                    <a:off x="3975160" y="1784430"/>
                    <a:ext cx="6103915" cy="27699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t">
                    <a:spAutoFit/>
                  </a:bodyPr>
                  <a:lstStyle/>
                  <a:p>
                    <a:pPr hangingPunct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𝑀𝑜𝑏𝑖𝑙𝑖𝑡𝑦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0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j-cs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𝑁𝑒𝑤𝐶𝑎𝑠𝑒𝑠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</m:t>
                          </m:r>
                          <m:sSup>
                            <m:sSupPr>
                              <m:ctrlP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𝑒𝑤𝐶𝑎𝑠𝑒𝑠</m:t>
                              </m:r>
                            </m:e>
                            <m:sup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3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∗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𝐴𝑤𝑎𝑟𝑒</m:t>
                          </m:r>
                        </m:oMath>
                      </m:oMathPara>
                    </a14:m>
                    <a:endParaRPr kumimoji="0" lang="en-US" sz="1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latin typeface="+mj-lt"/>
                      <a:ea typeface="+mj-ea"/>
                      <a:cs typeface="+mj-cs"/>
                      <a:sym typeface="Calibri"/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5E809ABF-28F6-1222-20B2-076F2B65A2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5160" y="1784430"/>
                    <a:ext cx="6103915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899" t="-4444" r="-500" b="-35556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243753D0-826F-A0BB-3D50-7C4D0FD5A8D1}"/>
                      </a:ext>
                    </a:extLst>
                  </p:cNvPr>
                  <p:cNvSpPr txBox="1"/>
                  <p:nvPr/>
                </p:nvSpPr>
                <p:spPr>
                  <a:xfrm>
                    <a:off x="3975160" y="2181832"/>
                    <a:ext cx="8459302" cy="27699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t">
                    <a:spAutoFit/>
                  </a:bodyPr>
                  <a:lstStyle/>
                  <a:p>
                    <a:pPr hangingPunct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𝑀𝑜𝑏𝑖𝑙𝑖𝑡𝑦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0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j-cs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𝑁𝑒𝑤𝐶𝑎𝑠𝑒𝑠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𝑁𝑒𝑤𝐶𝑎𝑠𝑒𝑠</m:t>
                              </m:r>
                            </m:e>
                            <m:sup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3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∗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𝐴𝑤𝑎𝑟𝑒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4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NewCases</m:t>
                          </m:r>
                          <m: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Aware</m:t>
                          </m:r>
                        </m:oMath>
                      </m:oMathPara>
                    </a14:m>
                    <a:endParaRPr kumimoji="0" lang="en-US" sz="1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latin typeface="+mj-lt"/>
                      <a:ea typeface="+mj-ea"/>
                      <a:cs typeface="+mj-cs"/>
                      <a:sym typeface="Calibri"/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243753D0-826F-A0BB-3D50-7C4D0FD5A8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5160" y="2181832"/>
                    <a:ext cx="8459302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504" t="-4444" r="-288" b="-35556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98F7098-55EC-7B4A-4BBD-FB69E2CEEF2A}"/>
                  </a:ext>
                </a:extLst>
              </p:cNvPr>
              <p:cNvGrpSpPr/>
              <p:nvPr/>
            </p:nvGrpSpPr>
            <p:grpSpPr>
              <a:xfrm>
                <a:off x="3975160" y="2583471"/>
                <a:ext cx="8326767" cy="674401"/>
                <a:chOff x="3975160" y="2935992"/>
                <a:chExt cx="8326767" cy="67440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28F2DADF-E6AC-A570-D7CF-2A99A24B620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75160" y="2935992"/>
                      <a:ext cx="6037871" cy="276999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none" lIns="0" tIns="0" rIns="0" bIns="0" numCol="1" spcCol="38100" rtlCol="0" anchor="t">
                      <a:spAutoFit/>
                    </a:bodyPr>
                    <a:lstStyle/>
                    <a:p>
                      <a:pPr hangingPunct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𝑀𝑜𝑏𝑖𝑙𝑖𝑡𝑦</m:t>
                            </m:r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sz="1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j-cs"/>
                                    <a:sym typeface="Calibri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1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  <a:sym typeface="Calibri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𝑁𝑒𝑤𝐶𝑎𝑠𝑒𝑠</m:t>
                            </m:r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kumimoji="0" lang="en-US" sz="1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  <a:sym typeface="Calibri"/>
                                  </a:rPr>
                                </m:ctrlPr>
                              </m:sSupPr>
                              <m:e>
                                <m:r>
                                  <a:rPr kumimoji="0" lang="en-US" sz="1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  <a:sym typeface="Calibri"/>
                                  </a:rPr>
                                  <m:t>𝑁𝑒𝑤𝐶𝑎𝑠𝑒𝑠</m:t>
                                </m:r>
                              </m:e>
                              <m:sup>
                                <m:r>
                                  <a:rPr kumimoji="0" lang="en-US" sz="1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  <a:sym typeface="Calibri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  <m:t>∗</m:t>
                            </m:r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𝐿𝑒𝑎𝑟𝑛</m:t>
                            </m:r>
                          </m:oMath>
                        </m:oMathPara>
                      </a14:m>
                      <a:endParaRPr kumimoji="0" lang="en-US" sz="18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FillTx/>
                        <a:latin typeface="+mj-lt"/>
                        <a:ea typeface="+mj-ea"/>
                        <a:cs typeface="+mj-cs"/>
                        <a:sym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28F2DADF-E6AC-A570-D7CF-2A99A24B620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75160" y="2935992"/>
                      <a:ext cx="6037871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908" t="-4444" r="-505" b="-35556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3110F31A-C21D-BA3A-1E96-B7858630FE4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75160" y="3333394"/>
                      <a:ext cx="8326767" cy="276999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none" lIns="0" tIns="0" rIns="0" bIns="0" numCol="1" spcCol="38100" rtlCol="0" anchor="t">
                      <a:spAutoFit/>
                    </a:bodyPr>
                    <a:lstStyle/>
                    <a:p>
                      <a:pPr hangingPunct="0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𝑀𝑜𝑏𝑖𝑙𝑖𝑡𝑦</m:t>
                            </m:r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sz="1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kumimoji="0" lang="en-US" sz="1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j-cs"/>
                                    <a:sym typeface="Calibri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kumimoji="0" lang="en-US" sz="1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  <a:sym typeface="Calibri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𝑁𝑒𝑤𝐶𝑎𝑠𝑒𝑠</m:t>
                            </m:r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kumimoji="0" lang="en-US" sz="1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  <a:sym typeface="Calibri"/>
                                  </a:rPr>
                                </m:ctrlPr>
                              </m:sSupPr>
                              <m:e>
                                <m:r>
                                  <a:rPr kumimoji="0" lang="en-US" sz="1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  <a:sym typeface="Calibri"/>
                                  </a:rPr>
                                  <m:t>𝑁𝑒𝑤𝐶𝑎𝑠𝑒𝑠</m:t>
                                </m:r>
                              </m:e>
                              <m:sup>
                                <m:r>
                                  <a:rPr kumimoji="0" lang="en-US" sz="18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accent1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ea typeface="+mj-ea"/>
                                    <a:cs typeface="+mj-cs"/>
                                    <a:sym typeface="Calibri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∗</m:t>
                            </m:r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𝐿𝑒𝑎𝑟𝑛</m:t>
                            </m:r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sym typeface="Calibri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Calibri"/>
                                  </a:rPr>
                                  <m:t>4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NewCases</m:t>
                            </m:r>
                            <m:r>
                              <a:rPr lang="en-US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∗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Learn</m:t>
                            </m:r>
                          </m:oMath>
                        </m:oMathPara>
                      </a14:m>
                      <a:endParaRPr kumimoji="0" lang="en-US" sz="18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FillTx/>
                        <a:latin typeface="+mj-lt"/>
                        <a:ea typeface="+mj-ea"/>
                        <a:cs typeface="+mj-cs"/>
                        <a:sym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3110F31A-C21D-BA3A-1E96-B7858630FE4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75160" y="3333394"/>
                      <a:ext cx="8326767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512" t="-4444" r="-293" b="-35556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8B2ADA5-B711-7E63-E793-02B53E8AF1DF}"/>
                </a:ext>
              </a:extLst>
            </p:cNvPr>
            <p:cNvGrpSpPr/>
            <p:nvPr/>
          </p:nvGrpSpPr>
          <p:grpSpPr>
            <a:xfrm>
              <a:off x="2680659" y="1659917"/>
              <a:ext cx="1359887" cy="1596084"/>
              <a:chOff x="2787044" y="1659917"/>
              <a:chExt cx="1359887" cy="1596084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69DA1A-0DD2-1957-95C1-0E4408953CDE}"/>
                  </a:ext>
                </a:extLst>
              </p:cNvPr>
              <p:cNvSpPr txBox="1"/>
              <p:nvPr/>
            </p:nvSpPr>
            <p:spPr>
              <a:xfrm>
                <a:off x="2787044" y="1659917"/>
                <a:ext cx="1359887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cherus Grotesque"/>
                  </a:rPr>
                  <a:t>Aware</a:t>
                </a:r>
                <a:r>
                  <a:rPr kumimoji="0" lang="en-US" sz="2400" b="1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cherus Grotesque"/>
                  </a:rPr>
                  <a:t>1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8DEABD8-EE2F-D225-5779-1A4FA54BE6B1}"/>
                  </a:ext>
                </a:extLst>
              </p:cNvPr>
              <p:cNvSpPr txBox="1"/>
              <p:nvPr/>
            </p:nvSpPr>
            <p:spPr>
              <a:xfrm>
                <a:off x="2787044" y="2043149"/>
                <a:ext cx="1359887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cherus Grotesque"/>
                  </a:rPr>
                  <a:t>Aware</a:t>
                </a:r>
                <a:r>
                  <a:rPr lang="en-US" sz="2400" b="1" kern="0" baseline="-250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cherus Grotesque"/>
                  </a:rPr>
                  <a:t>2</a:t>
                </a:r>
                <a:endParaRPr kumimoji="0" 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cherus Grotesque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070218-5B99-BEE7-40FA-61D5B914B6F0}"/>
                  </a:ext>
                </a:extLst>
              </p:cNvPr>
              <p:cNvSpPr txBox="1"/>
              <p:nvPr/>
            </p:nvSpPr>
            <p:spPr>
              <a:xfrm>
                <a:off x="2787044" y="2458831"/>
                <a:ext cx="1359887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cherus Grotesque"/>
                  </a:rPr>
                  <a:t>Learn</a:t>
                </a:r>
                <a:r>
                  <a:rPr kumimoji="0" lang="en-US" sz="2400" b="1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cherus Grotesque"/>
                  </a:rPr>
                  <a:t>1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0B1DD9D-F0E0-2FAC-E10B-EA8FCF5E368D}"/>
                  </a:ext>
                </a:extLst>
              </p:cNvPr>
              <p:cNvSpPr txBox="1"/>
              <p:nvPr/>
            </p:nvSpPr>
            <p:spPr>
              <a:xfrm>
                <a:off x="2787044" y="2794336"/>
                <a:ext cx="1359887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cherus Grotesque"/>
                  </a:rPr>
                  <a:t>Learn</a:t>
                </a:r>
                <a:r>
                  <a:rPr lang="en-US" sz="2400" b="1" kern="0" baseline="-250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cherus Grotesque"/>
                  </a:rPr>
                  <a:t>2</a:t>
                </a:r>
                <a:endParaRPr kumimoji="0" 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cherus Grotesque"/>
                </a:endParaRP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60293E4-E579-82C4-78CB-2B5C757A2F21}"/>
              </a:ext>
            </a:extLst>
          </p:cNvPr>
          <p:cNvSpPr txBox="1"/>
          <p:nvPr/>
        </p:nvSpPr>
        <p:spPr>
          <a:xfrm>
            <a:off x="998805" y="5993154"/>
            <a:ext cx="5648268" cy="615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***P&lt;0.000, **P&lt;0.01. *P&lt;0.05</a:t>
            </a:r>
            <a:endParaRPr kumimoji="0" lang="en-US" sz="1600" i="1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ea typeface="+mj-ea"/>
              <a:cs typeface="Calibri"/>
              <a:sym typeface="Calibri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F52A834-C276-EBBA-F04C-41F56D581F57}"/>
              </a:ext>
            </a:extLst>
          </p:cNvPr>
          <p:cNvGrpSpPr/>
          <p:nvPr/>
        </p:nvGrpSpPr>
        <p:grpSpPr>
          <a:xfrm>
            <a:off x="9389660" y="161840"/>
            <a:ext cx="2659336" cy="1613579"/>
            <a:chOff x="8517918" y="115896"/>
            <a:chExt cx="3273903" cy="199015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CEEFC5-166C-AC02-2B75-5A10C65BC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17918" y="115896"/>
              <a:ext cx="3262503" cy="1990153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5EECB91E-9FC2-9CD7-0ED6-517C73815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149169" y="115896"/>
              <a:ext cx="1642652" cy="10096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787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highlight>
                  <a:srgbClr val="84293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prompt sensitivity analysis? </a:t>
            </a:r>
          </a:p>
        </p:txBody>
      </p:sp>
      <p:pic>
        <p:nvPicPr>
          <p:cNvPr id="9220" name="Picture 4" descr="Adobe Character Animator Ryan Puppet on Behance">
            <a:extLst>
              <a:ext uri="{FF2B5EF4-FFF2-40B4-BE49-F238E27FC236}">
                <a16:creationId xmlns:a16="http://schemas.microsoft.com/office/drawing/2014/main" id="{E77EE326-4775-57E3-F435-514201FE1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79" y="2735579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dobe Character Animator Debbie Puppet on Behance">
            <a:extLst>
              <a:ext uri="{FF2B5EF4-FFF2-40B4-BE49-F238E27FC236}">
                <a16:creationId xmlns:a16="http://schemas.microsoft.com/office/drawing/2014/main" id="{D99040A8-1EF0-550D-4DE6-6FAE3F0C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81" y="4712713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808F2-B426-9C2F-93B6-6F4E44F47647}"/>
              </a:ext>
            </a:extLst>
          </p:cNvPr>
          <p:cNvSpPr txBox="1"/>
          <p:nvPr/>
        </p:nvSpPr>
        <p:spPr>
          <a:xfrm>
            <a:off x="11236488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20CFB-38D4-5974-F0D0-3E5F15D24F92}"/>
              </a:ext>
            </a:extLst>
          </p:cNvPr>
          <p:cNvSpPr txBox="1"/>
          <p:nvPr/>
        </p:nvSpPr>
        <p:spPr>
          <a:xfrm>
            <a:off x="11236488" y="4778599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204384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highlight>
                  <a:srgbClr val="84293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prompt sensitivity analysis? </a:t>
            </a:r>
          </a:p>
        </p:txBody>
      </p:sp>
      <p:pic>
        <p:nvPicPr>
          <p:cNvPr id="9220" name="Picture 4" descr="Adobe Character Animator Ryan Puppet on Behance">
            <a:extLst>
              <a:ext uri="{FF2B5EF4-FFF2-40B4-BE49-F238E27FC236}">
                <a16:creationId xmlns:a16="http://schemas.microsoft.com/office/drawing/2014/main" id="{E77EE326-4775-57E3-F435-514201FE1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79" y="2735579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dobe Character Animator Debbie Puppet on Behance">
            <a:extLst>
              <a:ext uri="{FF2B5EF4-FFF2-40B4-BE49-F238E27FC236}">
                <a16:creationId xmlns:a16="http://schemas.microsoft.com/office/drawing/2014/main" id="{D99040A8-1EF0-550D-4DE6-6FAE3F0C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81" y="4712713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808F2-B426-9C2F-93B6-6F4E44F47647}"/>
              </a:ext>
            </a:extLst>
          </p:cNvPr>
          <p:cNvSpPr txBox="1"/>
          <p:nvPr/>
        </p:nvSpPr>
        <p:spPr>
          <a:xfrm>
            <a:off x="11236488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20CFB-38D4-5974-F0D0-3E5F15D24F92}"/>
              </a:ext>
            </a:extLst>
          </p:cNvPr>
          <p:cNvSpPr txBox="1"/>
          <p:nvPr/>
        </p:nvSpPr>
        <p:spPr>
          <a:xfrm>
            <a:off x="11236488" y="4778599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326829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Contextual Shift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0DB975-A9DA-AE4E-3AE8-E25BC6464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1753888"/>
            <a:ext cx="3843754" cy="23427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/>
              <p:nvPr/>
            </p:nvSpPr>
            <p:spPr>
              <a:xfrm>
                <a:off x="3850715" y="1765699"/>
                <a:ext cx="6267100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𝑁𝑒𝑤𝐶𝑎𝑠𝑒𝑠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𝑒𝑤𝐶𝑎𝑠𝑒𝑠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𝑆𝑎𝑣𝑖𝑛𝑔𝑠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15" y="1765699"/>
                <a:ext cx="6267100" cy="276999"/>
              </a:xfrm>
              <a:prstGeom prst="rect">
                <a:avLst/>
              </a:prstGeom>
              <a:blipFill>
                <a:blip r:embed="rId5"/>
                <a:stretch>
                  <a:fillRect l="-875" t="-4444" r="-875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/>
              <p:nvPr/>
            </p:nvSpPr>
            <p:spPr>
              <a:xfrm>
                <a:off x="3850715" y="2157389"/>
                <a:ext cx="6538520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𝑁𝐶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𝑆𝑎𝑣𝑖𝑛𝑔𝑠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NC</m:t>
                      </m:r>
                      <m: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Savings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15" y="2157389"/>
                <a:ext cx="6538520" cy="276999"/>
              </a:xfrm>
              <a:prstGeom prst="rect">
                <a:avLst/>
              </a:prstGeom>
              <a:blipFill>
                <a:blip r:embed="rId6"/>
                <a:stretch>
                  <a:fillRect l="-840" t="-4444" r="-840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7923D-D9B7-968E-A35F-325C3FCE50B3}"/>
                  </a:ext>
                </a:extLst>
              </p:cNvPr>
              <p:cNvSpPr txBox="1"/>
              <p:nvPr/>
            </p:nvSpPr>
            <p:spPr>
              <a:xfrm>
                <a:off x="3912326" y="2544321"/>
                <a:ext cx="8280237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𝑁𝐶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𝑆𝑎𝑣𝑖𝑛𝑔𝑠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NC</m:t>
                      </m:r>
                      <m: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Savings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NC</m:t>
                          </m:r>
                        </m:e>
                        <m:sup>
                          <m: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Savings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7923D-D9B7-968E-A35F-325C3FCE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326" y="2544321"/>
                <a:ext cx="8280237" cy="276999"/>
              </a:xfrm>
              <a:prstGeom prst="rect">
                <a:avLst/>
              </a:prstGeom>
              <a:blipFill>
                <a:blip r:embed="rId7"/>
                <a:stretch>
                  <a:fillRect l="-1325" t="-4348" r="-1325" b="-3260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DFB804E7-5821-C36D-B3BA-B6EC229DC9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4964" y="41967"/>
            <a:ext cx="4157599" cy="110343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B6140E9-C886-63BA-A303-2ED0A572F5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" y="4090316"/>
            <a:ext cx="3850717" cy="234502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9029D63-EB0B-7CCD-A460-C470B3D3DA03}"/>
              </a:ext>
            </a:extLst>
          </p:cNvPr>
          <p:cNvSpPr txBox="1"/>
          <p:nvPr/>
        </p:nvSpPr>
        <p:spPr>
          <a:xfrm>
            <a:off x="6305547" y="1128870"/>
            <a:ext cx="271581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 Agents, 5 runs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93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8" grpId="0"/>
      <p:bldP spid="3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Contextual Shift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0DB975-A9DA-AE4E-3AE8-E25BC6464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1753888"/>
            <a:ext cx="3843754" cy="23427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/>
              <p:nvPr/>
            </p:nvSpPr>
            <p:spPr>
              <a:xfrm>
                <a:off x="3850715" y="1765699"/>
                <a:ext cx="6267100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𝑁𝑒𝑤𝐶𝑎𝑠𝑒𝑠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𝑒𝑤𝐶𝑎𝑠𝑒𝑠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𝑆𝑎𝑣𝑖𝑛𝑔𝑠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15" y="1765699"/>
                <a:ext cx="6267100" cy="276999"/>
              </a:xfrm>
              <a:prstGeom prst="rect">
                <a:avLst/>
              </a:prstGeom>
              <a:blipFill>
                <a:blip r:embed="rId5"/>
                <a:stretch>
                  <a:fillRect l="-875" t="-4444" r="-875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/>
              <p:nvPr/>
            </p:nvSpPr>
            <p:spPr>
              <a:xfrm>
                <a:off x="3850715" y="2157389"/>
                <a:ext cx="6538520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𝑁𝐶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𝑆𝑎𝑣𝑖𝑛𝑔𝑠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NC</m:t>
                      </m:r>
                      <m: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Savings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15" y="2157389"/>
                <a:ext cx="6538520" cy="276999"/>
              </a:xfrm>
              <a:prstGeom prst="rect">
                <a:avLst/>
              </a:prstGeom>
              <a:blipFill>
                <a:blip r:embed="rId6"/>
                <a:stretch>
                  <a:fillRect l="-840" t="-4444" r="-840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7923D-D9B7-968E-A35F-325C3FCE50B3}"/>
                  </a:ext>
                </a:extLst>
              </p:cNvPr>
              <p:cNvSpPr txBox="1"/>
              <p:nvPr/>
            </p:nvSpPr>
            <p:spPr>
              <a:xfrm>
                <a:off x="3912326" y="2544321"/>
                <a:ext cx="8280237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5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5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5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𝑁𝐶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5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5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5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𝑆𝑎𝑣𝑖𝑛𝑔𝑠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5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NC</m:t>
                      </m:r>
                      <m:r>
                        <a:rPr lang="en-US" b="0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Savings</m:t>
                      </m:r>
                      <m:r>
                        <a:rPr lang="en-US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NC</m:t>
                          </m:r>
                        </m:e>
                        <m:sup>
                          <m:r>
                            <a:rPr lang="en-US" b="0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Savings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5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7923D-D9B7-968E-A35F-325C3FCE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2326" y="2544321"/>
                <a:ext cx="8280237" cy="276999"/>
              </a:xfrm>
              <a:prstGeom prst="rect">
                <a:avLst/>
              </a:prstGeom>
              <a:blipFill>
                <a:blip r:embed="rId7"/>
                <a:stretch>
                  <a:fillRect l="-1325" t="-4348" r="-1325" b="-3260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DFB804E7-5821-C36D-B3BA-B6EC229DC9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4964" y="41967"/>
            <a:ext cx="4157599" cy="110343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B6140E9-C886-63BA-A303-2ED0A572F5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" y="4090316"/>
            <a:ext cx="3850717" cy="23450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CAB9FC-A909-61DF-651E-C323195F8443}"/>
              </a:ext>
            </a:extLst>
          </p:cNvPr>
          <p:cNvSpPr txBox="1"/>
          <p:nvPr/>
        </p:nvSpPr>
        <p:spPr>
          <a:xfrm>
            <a:off x="10455404" y="1658082"/>
            <a:ext cx="1614669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Savings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02CC3-BF04-6DD7-A56F-6FF7405D00C0}"/>
              </a:ext>
            </a:extLst>
          </p:cNvPr>
          <p:cNvSpPr txBox="1"/>
          <p:nvPr/>
        </p:nvSpPr>
        <p:spPr>
          <a:xfrm>
            <a:off x="10455404" y="2041314"/>
            <a:ext cx="154282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Savings</a:t>
            </a:r>
            <a:r>
              <a:rPr lang="en-US" sz="2400" b="1" kern="0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2</a:t>
            </a:r>
            <a:endParaRPr kumimoji="0" lang="en-US" sz="2400" b="1" i="0" u="none" strike="noStrike" kern="0" cap="none" spc="0" normalizeH="0" baseline="-2500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FB14F9-62C0-6848-5FD0-75115148FC24}"/>
              </a:ext>
            </a:extLst>
          </p:cNvPr>
          <p:cNvSpPr txBox="1"/>
          <p:nvPr/>
        </p:nvSpPr>
        <p:spPr>
          <a:xfrm>
            <a:off x="6305547" y="1128870"/>
            <a:ext cx="271581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 Agents, 5 runs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90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Contextual Shift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B73A3C3-09CD-C952-2DB5-0455A2FD7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115539"/>
              </p:ext>
            </p:extLst>
          </p:nvPr>
        </p:nvGraphicFramePr>
        <p:xfrm>
          <a:off x="998805" y="3839393"/>
          <a:ext cx="10032472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059">
                  <a:extLst>
                    <a:ext uri="{9D8B030D-6E8A-4147-A177-3AD203B41FA5}">
                      <a16:colId xmlns:a16="http://schemas.microsoft.com/office/drawing/2014/main" val="820701274"/>
                    </a:ext>
                  </a:extLst>
                </a:gridCol>
                <a:gridCol w="1254059">
                  <a:extLst>
                    <a:ext uri="{9D8B030D-6E8A-4147-A177-3AD203B41FA5}">
                      <a16:colId xmlns:a16="http://schemas.microsoft.com/office/drawing/2014/main" val="3715058434"/>
                    </a:ext>
                  </a:extLst>
                </a:gridCol>
                <a:gridCol w="1254059">
                  <a:extLst>
                    <a:ext uri="{9D8B030D-6E8A-4147-A177-3AD203B41FA5}">
                      <a16:colId xmlns:a16="http://schemas.microsoft.com/office/drawing/2014/main" val="3908031248"/>
                    </a:ext>
                  </a:extLst>
                </a:gridCol>
                <a:gridCol w="1254059">
                  <a:extLst>
                    <a:ext uri="{9D8B030D-6E8A-4147-A177-3AD203B41FA5}">
                      <a16:colId xmlns:a16="http://schemas.microsoft.com/office/drawing/2014/main" val="434091579"/>
                    </a:ext>
                  </a:extLst>
                </a:gridCol>
                <a:gridCol w="1254059">
                  <a:extLst>
                    <a:ext uri="{9D8B030D-6E8A-4147-A177-3AD203B41FA5}">
                      <a16:colId xmlns:a16="http://schemas.microsoft.com/office/drawing/2014/main" val="592120850"/>
                    </a:ext>
                  </a:extLst>
                </a:gridCol>
                <a:gridCol w="1254059">
                  <a:extLst>
                    <a:ext uri="{9D8B030D-6E8A-4147-A177-3AD203B41FA5}">
                      <a16:colId xmlns:a16="http://schemas.microsoft.com/office/drawing/2014/main" val="3720329454"/>
                    </a:ext>
                  </a:extLst>
                </a:gridCol>
                <a:gridCol w="1254059">
                  <a:extLst>
                    <a:ext uri="{9D8B030D-6E8A-4147-A177-3AD203B41FA5}">
                      <a16:colId xmlns:a16="http://schemas.microsoft.com/office/drawing/2014/main" val="950135029"/>
                    </a:ext>
                  </a:extLst>
                </a:gridCol>
                <a:gridCol w="1254059">
                  <a:extLst>
                    <a:ext uri="{9D8B030D-6E8A-4147-A177-3AD203B41FA5}">
                      <a16:colId xmlns:a16="http://schemas.microsoft.com/office/drawing/2014/main" val="17157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Equation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30000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200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Savings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-19.02***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131.69***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557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Savings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-20.68***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131.24***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3.04***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153458"/>
                  </a:ext>
                </a:extLst>
              </a:tr>
            </a:tbl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15505AA6-0D4B-E188-5D8F-62A4BA478075}"/>
              </a:ext>
            </a:extLst>
          </p:cNvPr>
          <p:cNvGrpSpPr/>
          <p:nvPr/>
        </p:nvGrpSpPr>
        <p:grpSpPr>
          <a:xfrm>
            <a:off x="998805" y="2576451"/>
            <a:ext cx="10392313" cy="799041"/>
            <a:chOff x="2309531" y="2458831"/>
            <a:chExt cx="10392313" cy="79904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98F7098-55EC-7B4A-4BBD-FB69E2CEEF2A}"/>
                </a:ext>
              </a:extLst>
            </p:cNvPr>
            <p:cNvGrpSpPr/>
            <p:nvPr/>
          </p:nvGrpSpPr>
          <p:grpSpPr>
            <a:xfrm>
              <a:off x="3975160" y="2583471"/>
              <a:ext cx="8726684" cy="674401"/>
              <a:chOff x="3975160" y="2935992"/>
              <a:chExt cx="8726684" cy="6744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28F2DADF-E6AC-A570-D7CF-2A99A24B6203}"/>
                      </a:ext>
                    </a:extLst>
                  </p:cNvPr>
                  <p:cNvSpPr txBox="1"/>
                  <p:nvPr/>
                </p:nvSpPr>
                <p:spPr>
                  <a:xfrm>
                    <a:off x="3975160" y="2935992"/>
                    <a:ext cx="6261458" cy="27699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t">
                    <a:spAutoFit/>
                  </a:bodyPr>
                  <a:lstStyle/>
                  <a:p>
                    <a:pPr hangingPunct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𝑀𝑜𝑏𝑖𝑙𝑖𝑡𝑦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0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j-cs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𝑁𝑒𝑤𝐶𝑎𝑠𝑒𝑠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𝑁𝑒𝑤𝐶𝑎𝑠𝑒𝑠</m:t>
                              </m:r>
                            </m:e>
                            <m:sup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∗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𝑆𝑎𝑣𝑖𝑛𝑔𝑠</m:t>
                          </m:r>
                        </m:oMath>
                      </m:oMathPara>
                    </a14:m>
                    <a:endParaRPr kumimoji="0" lang="en-US" sz="1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latin typeface="+mj-lt"/>
                      <a:ea typeface="+mj-ea"/>
                      <a:cs typeface="+mj-cs"/>
                      <a:sym typeface="Calibri"/>
                    </a:endParaRPr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28F2DADF-E6AC-A570-D7CF-2A99A24B62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5160" y="2935992"/>
                    <a:ext cx="626145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876" t="-4348" r="-876" b="-32609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3110F31A-C21D-BA3A-1E96-B7858630FE45}"/>
                      </a:ext>
                    </a:extLst>
                  </p:cNvPr>
                  <p:cNvSpPr txBox="1"/>
                  <p:nvPr/>
                </p:nvSpPr>
                <p:spPr>
                  <a:xfrm>
                    <a:off x="3975160" y="3333394"/>
                    <a:ext cx="8726684" cy="27699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t">
                    <a:spAutoFit/>
                  </a:bodyPr>
                  <a:lstStyle/>
                  <a:p>
                    <a:pPr hangingPunct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𝑀𝑜𝑏𝑖𝑙𝑖𝑡𝑦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0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j-cs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𝑁𝑒𝑤𝐶𝑎𝑠𝑒𝑠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𝑁𝑒𝑤𝐶𝑎𝑠𝑒𝑠</m:t>
                              </m:r>
                            </m:e>
                            <m:sup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3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∗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𝑆𝑎𝑣𝑖𝑛𝑔𝑠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4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NewCases</m:t>
                          </m:r>
                          <m: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Savings</m:t>
                          </m:r>
                        </m:oMath>
                      </m:oMathPara>
                    </a14:m>
                    <a:endParaRPr kumimoji="0" lang="en-US" sz="1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latin typeface="+mj-lt"/>
                      <a:ea typeface="+mj-ea"/>
                      <a:cs typeface="+mj-cs"/>
                      <a:sym typeface="Calibri"/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3110F31A-C21D-BA3A-1E96-B7858630FE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5160" y="3333394"/>
                    <a:ext cx="8726684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489" t="-4348" r="-489" b="-32609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8B2ADA5-B711-7E63-E793-02B53E8AF1DF}"/>
                </a:ext>
              </a:extLst>
            </p:cNvPr>
            <p:cNvGrpSpPr/>
            <p:nvPr/>
          </p:nvGrpSpPr>
          <p:grpSpPr>
            <a:xfrm>
              <a:off x="2309531" y="2458831"/>
              <a:ext cx="1731016" cy="797170"/>
              <a:chOff x="2415916" y="2458831"/>
              <a:chExt cx="1731016" cy="797170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A070218-5B99-BEE7-40FA-61D5B914B6F0}"/>
                  </a:ext>
                </a:extLst>
              </p:cNvPr>
              <p:cNvSpPr txBox="1"/>
              <p:nvPr/>
            </p:nvSpPr>
            <p:spPr>
              <a:xfrm>
                <a:off x="2415916" y="2458831"/>
                <a:ext cx="1731016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cherus Grotesque"/>
                  </a:rPr>
                  <a:t>Savings</a:t>
                </a:r>
                <a:r>
                  <a:rPr kumimoji="0" lang="en-US" sz="2400" b="1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cherus Grotesque"/>
                  </a:rPr>
                  <a:t>1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0B1DD9D-F0E0-2FAC-E10B-EA8FCF5E368D}"/>
                  </a:ext>
                </a:extLst>
              </p:cNvPr>
              <p:cNvSpPr txBox="1"/>
              <p:nvPr/>
            </p:nvSpPr>
            <p:spPr>
              <a:xfrm>
                <a:off x="2415916" y="2794336"/>
                <a:ext cx="1731016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r>
                  <a:rPr kumimoji="0" 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cherus Grotesque"/>
                  </a:rPr>
                  <a:t>Savings</a:t>
                </a:r>
                <a:r>
                  <a:rPr lang="en-US" sz="2400" b="1" kern="0" baseline="-25000" dirty="0">
                    <a:solidFill>
                      <a:schemeClr val="accent2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cherus Grotesque"/>
                  </a:rPr>
                  <a:t>2</a:t>
                </a:r>
                <a:endParaRPr kumimoji="0" 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cherus Grotesque"/>
                </a:endParaRP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60293E4-E579-82C4-78CB-2B5C757A2F21}"/>
              </a:ext>
            </a:extLst>
          </p:cNvPr>
          <p:cNvSpPr txBox="1"/>
          <p:nvPr/>
        </p:nvSpPr>
        <p:spPr>
          <a:xfrm>
            <a:off x="998805" y="5238050"/>
            <a:ext cx="5648268" cy="615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***P&lt;0.000, **P&lt;0.01. *P&lt;0.05</a:t>
            </a:r>
            <a:endParaRPr kumimoji="0" lang="en-US" sz="1600" i="1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ea typeface="+mj-ea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F0DFEE-848B-6F7B-7963-78BB4F40C6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6477" y="1134634"/>
            <a:ext cx="1964896" cy="1197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7E2200-1628-94B1-88FC-FB3CF7DD0E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6257" y="1135647"/>
            <a:ext cx="1964896" cy="11965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053B91-6FAD-54B3-4E8B-E9BD0F4687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6478" y="68903"/>
            <a:ext cx="4015522" cy="106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122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highlight>
                  <a:srgbClr val="84293F"/>
                </a:highlight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prompt sensitivity analysis? </a:t>
            </a:r>
          </a:p>
        </p:txBody>
      </p:sp>
      <p:pic>
        <p:nvPicPr>
          <p:cNvPr id="9220" name="Picture 4" descr="Adobe Character Animator Ryan Puppet on Behance">
            <a:extLst>
              <a:ext uri="{FF2B5EF4-FFF2-40B4-BE49-F238E27FC236}">
                <a16:creationId xmlns:a16="http://schemas.microsoft.com/office/drawing/2014/main" id="{E77EE326-4775-57E3-F435-514201FE1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79" y="2735579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dobe Character Animator Debbie Puppet on Behance">
            <a:extLst>
              <a:ext uri="{FF2B5EF4-FFF2-40B4-BE49-F238E27FC236}">
                <a16:creationId xmlns:a16="http://schemas.microsoft.com/office/drawing/2014/main" id="{D99040A8-1EF0-550D-4DE6-6FAE3F0C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81" y="4712713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808F2-B426-9C2F-93B6-6F4E44F47647}"/>
              </a:ext>
            </a:extLst>
          </p:cNvPr>
          <p:cNvSpPr txBox="1"/>
          <p:nvPr/>
        </p:nvSpPr>
        <p:spPr>
          <a:xfrm>
            <a:off x="11236488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20CFB-38D4-5974-F0D0-3E5F15D24F92}"/>
              </a:ext>
            </a:extLst>
          </p:cNvPr>
          <p:cNvSpPr txBox="1"/>
          <p:nvPr/>
        </p:nvSpPr>
        <p:spPr>
          <a:xfrm>
            <a:off x="11236488" y="4778599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3988995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highlight>
                  <a:srgbClr val="81273E"/>
                </a:highlight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prompt sensitivity analysis? </a:t>
            </a:r>
          </a:p>
        </p:txBody>
      </p:sp>
      <p:pic>
        <p:nvPicPr>
          <p:cNvPr id="9220" name="Picture 4" descr="Adobe Character Animator Ryan Puppet on Behance">
            <a:extLst>
              <a:ext uri="{FF2B5EF4-FFF2-40B4-BE49-F238E27FC236}">
                <a16:creationId xmlns:a16="http://schemas.microsoft.com/office/drawing/2014/main" id="{E77EE326-4775-57E3-F435-514201FE1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79" y="2735579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dobe Character Animator Debbie Puppet on Behance">
            <a:extLst>
              <a:ext uri="{FF2B5EF4-FFF2-40B4-BE49-F238E27FC236}">
                <a16:creationId xmlns:a16="http://schemas.microsoft.com/office/drawing/2014/main" id="{D99040A8-1EF0-550D-4DE6-6FAE3F0C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81" y="4712713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808F2-B426-9C2F-93B6-6F4E44F47647}"/>
              </a:ext>
            </a:extLst>
          </p:cNvPr>
          <p:cNvSpPr txBox="1"/>
          <p:nvPr/>
        </p:nvSpPr>
        <p:spPr>
          <a:xfrm>
            <a:off x="11236488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20CFB-38D4-5974-F0D0-3E5F15D24F92}"/>
              </a:ext>
            </a:extLst>
          </p:cNvPr>
          <p:cNvSpPr txBox="1"/>
          <p:nvPr/>
        </p:nvSpPr>
        <p:spPr>
          <a:xfrm>
            <a:off x="11236488" y="4778599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2826142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BA0B92-0619-83C9-21EA-3E54024A6031}"/>
              </a:ext>
            </a:extLst>
          </p:cNvPr>
          <p:cNvGrpSpPr/>
          <p:nvPr/>
        </p:nvGrpSpPr>
        <p:grpSpPr>
          <a:xfrm>
            <a:off x="480382" y="3428999"/>
            <a:ext cx="6350265" cy="2990469"/>
            <a:chOff x="480382" y="3428999"/>
            <a:chExt cx="6350265" cy="299046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DF1896E-8D90-1DBC-66F6-64E763F6A3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0065" b="858"/>
            <a:stretch/>
          </p:blipFill>
          <p:spPr>
            <a:xfrm>
              <a:off x="480382" y="3428999"/>
              <a:ext cx="3173144" cy="299046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2190ECD-F8A3-D2DE-7C29-2356D082E9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517" b="50858"/>
            <a:stretch/>
          </p:blipFill>
          <p:spPr>
            <a:xfrm>
              <a:off x="3653526" y="3513909"/>
              <a:ext cx="3177121" cy="2905558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5035501-AA39-1CB1-56A0-4452F4E3BDC2}"/>
              </a:ext>
            </a:extLst>
          </p:cNvPr>
          <p:cNvGrpSpPr/>
          <p:nvPr/>
        </p:nvGrpSpPr>
        <p:grpSpPr>
          <a:xfrm>
            <a:off x="761694" y="723731"/>
            <a:ext cx="6630732" cy="1537703"/>
            <a:chOff x="761694" y="723731"/>
            <a:chExt cx="6630732" cy="153770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AC3B768-1BDA-480B-75C1-778F54B96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45540" y="801713"/>
              <a:ext cx="4646886" cy="1459721"/>
            </a:xfrm>
            <a:prstGeom prst="rect">
              <a:avLst/>
            </a:prstGeom>
          </p:spPr>
        </p:pic>
        <p:pic>
          <p:nvPicPr>
            <p:cNvPr id="11268" name="Picture 4" descr="Reuters | Breaking International News &amp; Views">
              <a:extLst>
                <a:ext uri="{FF2B5EF4-FFF2-40B4-BE49-F238E27FC236}">
                  <a16:creationId xmlns:a16="http://schemas.microsoft.com/office/drawing/2014/main" id="{0E0379A5-2CFF-5C8F-A588-EC620E28EB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694" y="723731"/>
              <a:ext cx="1459722" cy="14597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57BD25B-2CA1-C6AE-06E6-0C6EC5215FC3}"/>
              </a:ext>
            </a:extLst>
          </p:cNvPr>
          <p:cNvGrpSpPr/>
          <p:nvPr/>
        </p:nvGrpSpPr>
        <p:grpSpPr>
          <a:xfrm>
            <a:off x="480382" y="2199512"/>
            <a:ext cx="6855742" cy="1074818"/>
            <a:chOff x="480382" y="2199512"/>
            <a:chExt cx="6855742" cy="107481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E1F6D69-ABA8-3541-0AF3-D38D13EC8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45540" y="2199512"/>
              <a:ext cx="4590584" cy="1074818"/>
            </a:xfrm>
            <a:prstGeom prst="rect">
              <a:avLst/>
            </a:prstGeom>
          </p:spPr>
        </p:pic>
        <p:pic>
          <p:nvPicPr>
            <p:cNvPr id="11270" name="Picture 6" descr="Alfred Landecker | AlgorithmWatch">
              <a:extLst>
                <a:ext uri="{FF2B5EF4-FFF2-40B4-BE49-F238E27FC236}">
                  <a16:creationId xmlns:a16="http://schemas.microsoft.com/office/drawing/2014/main" id="{3663AF7F-FF24-5E33-6C2C-789AB9B04A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382" y="2199512"/>
              <a:ext cx="2022345" cy="1061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040F1D-54D3-B10E-D0AC-60A0FB677990}"/>
              </a:ext>
            </a:extLst>
          </p:cNvPr>
          <p:cNvGrpSpPr/>
          <p:nvPr/>
        </p:nvGrpSpPr>
        <p:grpSpPr>
          <a:xfrm>
            <a:off x="7635239" y="250545"/>
            <a:ext cx="4220069" cy="2406093"/>
            <a:chOff x="7772400" y="1897663"/>
            <a:chExt cx="4220069" cy="240609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BAEA637B-9398-1B84-6A36-9114F3F7D2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t="38081"/>
            <a:stretch/>
          </p:blipFill>
          <p:spPr>
            <a:xfrm>
              <a:off x="7772400" y="2518834"/>
              <a:ext cx="4220069" cy="178492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9433717-FE07-A35B-7166-6961E5D4C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15538" y="1897663"/>
              <a:ext cx="1733792" cy="571580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889A6F9-5A73-0703-77C2-8F14708C651F}"/>
              </a:ext>
            </a:extLst>
          </p:cNvPr>
          <p:cNvGrpSpPr/>
          <p:nvPr/>
        </p:nvGrpSpPr>
        <p:grpSpPr>
          <a:xfrm>
            <a:off x="7848214" y="2736921"/>
            <a:ext cx="3958385" cy="3961401"/>
            <a:chOff x="545339" y="909411"/>
            <a:chExt cx="3958385" cy="3961401"/>
          </a:xfrm>
        </p:grpSpPr>
        <p:pic>
          <p:nvPicPr>
            <p:cNvPr id="34" name="Picture 4" descr="Adobe Character Animator Ryan Puppet on Behance">
              <a:extLst>
                <a:ext uri="{FF2B5EF4-FFF2-40B4-BE49-F238E27FC236}">
                  <a16:creationId xmlns:a16="http://schemas.microsoft.com/office/drawing/2014/main" id="{14485D50-93AF-5258-E66E-F41C9939EC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339" y="909411"/>
              <a:ext cx="3958385" cy="19791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6" descr="Adobe Character Animator Debbie Puppet on Behance">
              <a:extLst>
                <a:ext uri="{FF2B5EF4-FFF2-40B4-BE49-F238E27FC236}">
                  <a16:creationId xmlns:a16="http://schemas.microsoft.com/office/drawing/2014/main" id="{39246AEA-CA3C-053E-0972-216BA38285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339" y="2891620"/>
              <a:ext cx="3958384" cy="1979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046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8EB38EC-AADA-F1F1-B3B1-8B4A3842B25A}"/>
              </a:ext>
            </a:extLst>
          </p:cNvPr>
          <p:cNvGrpSpPr/>
          <p:nvPr/>
        </p:nvGrpSpPr>
        <p:grpSpPr>
          <a:xfrm>
            <a:off x="545339" y="909411"/>
            <a:ext cx="3958385" cy="3961401"/>
            <a:chOff x="545339" y="909411"/>
            <a:chExt cx="3958385" cy="3961401"/>
          </a:xfrm>
        </p:grpSpPr>
        <p:pic>
          <p:nvPicPr>
            <p:cNvPr id="2" name="Picture 4" descr="Adobe Character Animator Ryan Puppet on Behance">
              <a:extLst>
                <a:ext uri="{FF2B5EF4-FFF2-40B4-BE49-F238E27FC236}">
                  <a16:creationId xmlns:a16="http://schemas.microsoft.com/office/drawing/2014/main" id="{C1F47F1C-07B5-BFA0-5249-56DA8834A7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339" y="909411"/>
              <a:ext cx="3958385" cy="19791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6" descr="Adobe Character Animator Debbie Puppet on Behance">
              <a:extLst>
                <a:ext uri="{FF2B5EF4-FFF2-40B4-BE49-F238E27FC236}">
                  <a16:creationId xmlns:a16="http://schemas.microsoft.com/office/drawing/2014/main" id="{C6356597-671E-8738-55E6-E8EFEAFD67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339" y="2891620"/>
              <a:ext cx="3958384" cy="1979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7AE6C8E-834D-0D5A-AB4A-775C61BB6B38}"/>
              </a:ext>
            </a:extLst>
          </p:cNvPr>
          <p:cNvSpPr txBox="1"/>
          <p:nvPr/>
        </p:nvSpPr>
        <p:spPr>
          <a:xfrm>
            <a:off x="513926" y="5173407"/>
            <a:ext cx="9570599" cy="1107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Baseline: </a:t>
            </a: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 most popular names in US (50 female, 50 male)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highlight>
                <a:srgbClr val="81273E"/>
              </a:highlight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2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Experiment 1: </a:t>
            </a:r>
            <a:r>
              <a:rPr lang="en-US" sz="22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 most popular female names in US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b="1" kern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Experiment 2: </a:t>
            </a:r>
            <a:r>
              <a:rPr lang="en-US" sz="22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2 most popular names in US (50 Jose, 50 Maria)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0220DA6-255F-22F6-CBCA-57DEE8C59C8B}"/>
              </a:ext>
            </a:extLst>
          </p:cNvPr>
          <p:cNvGrpSpPr/>
          <p:nvPr/>
        </p:nvGrpSpPr>
        <p:grpSpPr>
          <a:xfrm>
            <a:off x="4503723" y="911470"/>
            <a:ext cx="4101190" cy="3959342"/>
            <a:chOff x="4503723" y="911470"/>
            <a:chExt cx="4101190" cy="3959342"/>
          </a:xfrm>
        </p:grpSpPr>
        <p:pic>
          <p:nvPicPr>
            <p:cNvPr id="26630" name="Picture 6" descr="Debbie Adobe Character Animator Puppet ElectroPuppet, 42% OFF">
              <a:extLst>
                <a:ext uri="{FF2B5EF4-FFF2-40B4-BE49-F238E27FC236}">
                  <a16:creationId xmlns:a16="http://schemas.microsoft.com/office/drawing/2014/main" id="{96A4119D-1DE7-3BAC-307E-3F7496E20C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3723" y="911470"/>
              <a:ext cx="3964416" cy="1982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A23C639-8184-568D-7418-83607FDD67CF}"/>
                </a:ext>
              </a:extLst>
            </p:cNvPr>
            <p:cNvGrpSpPr/>
            <p:nvPr/>
          </p:nvGrpSpPr>
          <p:grpSpPr>
            <a:xfrm>
              <a:off x="4503724" y="2317505"/>
              <a:ext cx="4101189" cy="2553307"/>
              <a:chOff x="4503724" y="2317505"/>
              <a:chExt cx="4101189" cy="2553307"/>
            </a:xfrm>
          </p:grpSpPr>
          <p:pic>
            <p:nvPicPr>
              <p:cNvPr id="26626" name="Picture 2" descr="Jose - Adobe Character Animator Puppet | ElectroPuppet">
                <a:extLst>
                  <a:ext uri="{FF2B5EF4-FFF2-40B4-BE49-F238E27FC236}">
                    <a16:creationId xmlns:a16="http://schemas.microsoft.com/office/drawing/2014/main" id="{E457806B-062A-8820-D1A3-5A408EDC2F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3724" y="2888604"/>
                <a:ext cx="3964416" cy="1982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724563-CA51-7D67-C0AC-7DCAB39D59ED}"/>
                  </a:ext>
                </a:extLst>
              </p:cNvPr>
              <p:cNvSpPr txBox="1"/>
              <p:nvPr/>
            </p:nvSpPr>
            <p:spPr>
              <a:xfrm>
                <a:off x="7202557" y="2317505"/>
                <a:ext cx="1402356" cy="6463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r>
                  <a:rPr kumimoji="0" lang="en-US" sz="36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highlight>
                      <a:srgbClr val="000000"/>
                    </a:highlight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Acherus Grotesque"/>
                  </a:rPr>
                  <a:t>Maria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1C5EB0-8D54-1918-4552-267B0C01ECEA}"/>
              </a:ext>
            </a:extLst>
          </p:cNvPr>
          <p:cNvGrpSpPr/>
          <p:nvPr/>
        </p:nvGrpSpPr>
        <p:grpSpPr>
          <a:xfrm>
            <a:off x="8699863" y="2239662"/>
            <a:ext cx="3479073" cy="2027403"/>
            <a:chOff x="8699863" y="2239662"/>
            <a:chExt cx="3479073" cy="2027403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78010D8-132E-235E-76BD-1FC09A5E914F}"/>
                </a:ext>
              </a:extLst>
            </p:cNvPr>
            <p:cNvGrpSpPr/>
            <p:nvPr/>
          </p:nvGrpSpPr>
          <p:grpSpPr>
            <a:xfrm>
              <a:off x="8699863" y="2239662"/>
              <a:ext cx="3479073" cy="1368608"/>
              <a:chOff x="8699863" y="2239662"/>
              <a:chExt cx="3479073" cy="1368608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FF6BEB07-2DB9-D152-CC9C-0A7517562E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99863" y="2893678"/>
                <a:ext cx="3479073" cy="714592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0DA457AC-9D7B-1503-9E34-9B9E7F02F5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60115" y="2239662"/>
                <a:ext cx="3158570" cy="637692"/>
              </a:xfrm>
              <a:prstGeom prst="rect">
                <a:avLst/>
              </a:prstGeom>
            </p:spPr>
          </p:pic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1236966-1007-5088-BABD-57D61424B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772321" y="3696277"/>
              <a:ext cx="3168458" cy="5707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753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0DB975-A9DA-AE4E-3AE8-E25BC6464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044" y="979202"/>
            <a:ext cx="3976320" cy="24235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/>
              <p:nvPr/>
            </p:nvSpPr>
            <p:spPr>
              <a:xfrm>
                <a:off x="2123711" y="3724507"/>
                <a:ext cx="7548840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𝑁𝑒𝑤𝐶𝑎𝑠𝑒𝑠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𝑒𝑤𝐶𝑎𝑠𝑒𝑠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𝐹𝑒𝑚𝑎𝑙𝑒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11" y="3724507"/>
                <a:ext cx="7548840" cy="276999"/>
              </a:xfrm>
              <a:prstGeom prst="rect">
                <a:avLst/>
              </a:prstGeom>
              <a:blipFill>
                <a:blip r:embed="rId5"/>
                <a:stretch>
                  <a:fillRect l="-1453" t="-4444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/>
              <p:nvPr/>
            </p:nvSpPr>
            <p:spPr>
              <a:xfrm>
                <a:off x="2123711" y="4121909"/>
                <a:ext cx="7752804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𝑁𝐶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𝐹𝑒𝑚𝑎𝑙𝑒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NC</m:t>
                      </m:r>
                      <m: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Female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11" y="4121909"/>
                <a:ext cx="7752804" cy="276999"/>
              </a:xfrm>
              <a:prstGeom prst="rect">
                <a:avLst/>
              </a:prstGeom>
              <a:blipFill>
                <a:blip r:embed="rId6"/>
                <a:stretch>
                  <a:fillRect l="-1415" t="-4348" b="-3260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7923D-D9B7-968E-A35F-325C3FCE50B3}"/>
                  </a:ext>
                </a:extLst>
              </p:cNvPr>
              <p:cNvSpPr txBox="1"/>
              <p:nvPr/>
            </p:nvSpPr>
            <p:spPr>
              <a:xfrm>
                <a:off x="2123711" y="4508841"/>
                <a:ext cx="9530346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𝑁𝐶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𝐹𝑒𝑚𝑎𝑙𝑒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NC</m:t>
                      </m:r>
                      <m: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Female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NC</m:t>
                          </m:r>
                        </m:e>
                        <m:sup>
                          <m: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Female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7923D-D9B7-968E-A35F-325C3FCE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11" y="4508841"/>
                <a:ext cx="9530346" cy="276999"/>
              </a:xfrm>
              <a:prstGeom prst="rect">
                <a:avLst/>
              </a:prstGeom>
              <a:blipFill>
                <a:blip r:embed="rId7"/>
                <a:stretch>
                  <a:fillRect l="-1151" t="-4444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98F7098-55EC-7B4A-4BBD-FB69E2CEEF2A}"/>
              </a:ext>
            </a:extLst>
          </p:cNvPr>
          <p:cNvGrpSpPr/>
          <p:nvPr/>
        </p:nvGrpSpPr>
        <p:grpSpPr>
          <a:xfrm>
            <a:off x="2123710" y="4900512"/>
            <a:ext cx="9901644" cy="1061333"/>
            <a:chOff x="3975159" y="2935992"/>
            <a:chExt cx="8552899" cy="10613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8F2DADF-E6AC-A570-D7CF-2A99A24B6203}"/>
                    </a:ext>
                  </a:extLst>
                </p:cNvPr>
                <p:cNvSpPr txBox="1"/>
                <p:nvPr/>
              </p:nvSpPr>
              <p:spPr>
                <a:xfrm>
                  <a:off x="3975160" y="2935992"/>
                  <a:ext cx="5683439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𝑁𝑒𝑤𝐶𝑎𝑠𝑒𝑠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</m:t>
                        </m:r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𝑒𝑤𝐶𝑎𝑠𝑒𝑠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𝑇𝑤𝑜𝑁𝑎𝑚𝑒𝑠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8F2DADF-E6AC-A570-D7CF-2A99A24B62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60" y="2935992"/>
                  <a:ext cx="568343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667" t="-4444" b="-3555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10F31A-C21D-BA3A-1E96-B7858630FE45}"/>
                    </a:ext>
                  </a:extLst>
                </p:cNvPr>
                <p:cNvSpPr txBox="1"/>
                <p:nvPr/>
              </p:nvSpPr>
              <p:spPr>
                <a:xfrm>
                  <a:off x="3975160" y="3333394"/>
                  <a:ext cx="6230819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𝑁𝐶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𝑁𝐶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𝑇𝑤𝑜𝑁𝑎𝑚𝑒𝑠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NC</m:t>
                        </m:r>
                        <m: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TwoNames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10F31A-C21D-BA3A-1E96-B7858630FE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60" y="3333394"/>
                  <a:ext cx="623081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520" t="-4348" b="-3260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656217F-3A47-2D2E-8D5C-4286476A130F}"/>
                    </a:ext>
                  </a:extLst>
                </p:cNvPr>
                <p:cNvSpPr txBox="1"/>
                <p:nvPr/>
              </p:nvSpPr>
              <p:spPr>
                <a:xfrm>
                  <a:off x="3975159" y="3720326"/>
                  <a:ext cx="8552899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𝑁𝐶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𝑁𝐶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𝑇𝑤𝑜𝑁𝑎𝑚𝑒𝑠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NC</m:t>
                        </m:r>
                        <m: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TwoNames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5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NC</m:t>
                            </m:r>
                          </m:e>
                          <m:sup>
                            <m:r>
                              <a:rPr lang="en-US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TwoNames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656217F-3A47-2D2E-8D5C-4286476A13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59" y="3720326"/>
                  <a:ext cx="8552899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108" t="-4444" b="-3555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BACF279-C152-D402-9C95-D3A174234A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3364" y="979202"/>
            <a:ext cx="3976322" cy="24235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0C6001C-EB8C-6C78-B381-F7B81DFDA4E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9682" y="979202"/>
            <a:ext cx="3976320" cy="2423562"/>
          </a:xfrm>
          <a:prstGeom prst="rect">
            <a:avLst/>
          </a:prstGeom>
        </p:spPr>
      </p:pic>
      <p:pic>
        <p:nvPicPr>
          <p:cNvPr id="33" name="Picture 4" descr="Adobe Character Animator Ryan Puppet on Behance">
            <a:extLst>
              <a:ext uri="{FF2B5EF4-FFF2-40B4-BE49-F238E27FC236}">
                <a16:creationId xmlns:a16="http://schemas.microsoft.com/office/drawing/2014/main" id="{4EDE1893-3292-52D7-1F7A-07737037F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160" y="8057"/>
            <a:ext cx="1326307" cy="66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Adobe Character Animator Debbie Puppet on Behance">
            <a:extLst>
              <a:ext uri="{FF2B5EF4-FFF2-40B4-BE49-F238E27FC236}">
                <a16:creationId xmlns:a16="http://schemas.microsoft.com/office/drawing/2014/main" id="{50530925-ED76-7A3F-4054-DFDA816B0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467" y="8057"/>
            <a:ext cx="1326308" cy="66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Jose - Adobe Character Animator Puppet | ElectroPuppet">
            <a:extLst>
              <a:ext uri="{FF2B5EF4-FFF2-40B4-BE49-F238E27FC236}">
                <a16:creationId xmlns:a16="http://schemas.microsoft.com/office/drawing/2014/main" id="{96DD6449-CD14-4DC0-12E7-AD7DA2948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082" y="9778"/>
            <a:ext cx="1314918" cy="657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84F1EDF-F6FD-3204-83A5-31A7C97E1D60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r="6373" b="9396"/>
          <a:stretch/>
        </p:blipFill>
        <p:spPr>
          <a:xfrm>
            <a:off x="9550776" y="8057"/>
            <a:ext cx="1336216" cy="68717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960B1EF-D9A8-9F06-AA55-0E966A6883D8}"/>
              </a:ext>
            </a:extLst>
          </p:cNvPr>
          <p:cNvSpPr txBox="1"/>
          <p:nvPr/>
        </p:nvSpPr>
        <p:spPr>
          <a:xfrm>
            <a:off x="5530978" y="591559"/>
            <a:ext cx="271581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 Agents, 5 runs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94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8" grpId="0"/>
      <p:bldP spid="4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0DB975-A9DA-AE4E-3AE8-E25BC6464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044" y="979202"/>
            <a:ext cx="3976320" cy="24235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/>
              <p:nvPr/>
            </p:nvSpPr>
            <p:spPr>
              <a:xfrm>
                <a:off x="2123711" y="3724507"/>
                <a:ext cx="7548840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𝑁𝑒𝑤𝐶𝑎𝑠𝑒𝑠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</m:t>
                      </m:r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𝑒𝑤𝐶𝑎𝑠𝑒𝑠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𝐹𝑒𝑚𝑎𝑙𝑒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E809ABF-28F6-1222-20B2-076F2B65A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11" y="3724507"/>
                <a:ext cx="7548840" cy="276999"/>
              </a:xfrm>
              <a:prstGeom prst="rect">
                <a:avLst/>
              </a:prstGeom>
              <a:blipFill>
                <a:blip r:embed="rId5"/>
                <a:stretch>
                  <a:fillRect l="-1453" t="-4444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/>
              <p:nvPr/>
            </p:nvSpPr>
            <p:spPr>
              <a:xfrm>
                <a:off x="2123711" y="4121909"/>
                <a:ext cx="7752804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𝑁𝐶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𝐹𝑒𝑚𝑎𝑙𝑒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NC</m:t>
                      </m:r>
                      <m: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Female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3753D0-826F-A0BB-3D50-7C4D0FD5A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11" y="4121909"/>
                <a:ext cx="7752804" cy="276999"/>
              </a:xfrm>
              <a:prstGeom prst="rect">
                <a:avLst/>
              </a:prstGeom>
              <a:blipFill>
                <a:blip r:embed="rId6"/>
                <a:stretch>
                  <a:fillRect l="-1415" t="-4348" b="-3260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7923D-D9B7-968E-A35F-325C3FCE50B3}"/>
                  </a:ext>
                </a:extLst>
              </p:cNvPr>
              <p:cNvSpPr txBox="1"/>
              <p:nvPr/>
            </p:nvSpPr>
            <p:spPr>
              <a:xfrm>
                <a:off x="2123711" y="4508841"/>
                <a:ext cx="9530346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hangingPunc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𝑀𝑜𝑏𝑖𝑙𝑖𝑡𝑦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j-cs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𝑁𝐶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</m:e>
                        <m: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2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3</m:t>
                          </m:r>
                        </m:sub>
                      </m:sSub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∗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𝐹𝑒𝑚𝑎𝑙𝑒</m:t>
                      </m:r>
                      <m:r>
                        <a:rPr kumimoji="0" lang="en-US" sz="1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NC</m:t>
                      </m:r>
                      <m:r>
                        <a:rPr lang="en-US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Female</m:t>
                      </m:r>
                      <m:r>
                        <a:rPr lang="en-US" i="1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sym typeface="Calibri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5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NC</m:t>
                          </m:r>
                        </m:e>
                        <m:sup>
                          <m: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2</m:t>
                          </m:r>
                        </m:sup>
                      </m:sSup>
                      <m:r>
                        <a:rPr lang="en-US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Female</m:t>
                      </m:r>
                    </m:oMath>
                  </m:oMathPara>
                </a14:m>
                <a:endParaRPr kumimoji="0" lang="en-US" sz="18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+mj-lt"/>
                  <a:ea typeface="+mj-ea"/>
                  <a:cs typeface="+mj-cs"/>
                  <a:sym typeface="Calibri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27923D-D9B7-968E-A35F-325C3FCE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11" y="4508841"/>
                <a:ext cx="9530346" cy="276999"/>
              </a:xfrm>
              <a:prstGeom prst="rect">
                <a:avLst/>
              </a:prstGeom>
              <a:blipFill>
                <a:blip r:embed="rId7"/>
                <a:stretch>
                  <a:fillRect l="-1151" t="-4444" b="-3555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298F7098-55EC-7B4A-4BBD-FB69E2CEEF2A}"/>
              </a:ext>
            </a:extLst>
          </p:cNvPr>
          <p:cNvGrpSpPr/>
          <p:nvPr/>
        </p:nvGrpSpPr>
        <p:grpSpPr>
          <a:xfrm>
            <a:off x="2123710" y="4900512"/>
            <a:ext cx="9901644" cy="1061333"/>
            <a:chOff x="3975159" y="2935992"/>
            <a:chExt cx="8552899" cy="10613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8F2DADF-E6AC-A570-D7CF-2A99A24B6203}"/>
                    </a:ext>
                  </a:extLst>
                </p:cNvPr>
                <p:cNvSpPr txBox="1"/>
                <p:nvPr/>
              </p:nvSpPr>
              <p:spPr>
                <a:xfrm>
                  <a:off x="3975160" y="2935992"/>
                  <a:ext cx="5683439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𝑁𝑒𝑤𝐶𝑎𝑠𝑒𝑠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</m:t>
                        </m:r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𝑒𝑤𝐶𝑎𝑠𝑒𝑠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𝑇𝑤𝑜𝑁𝑎𝑚𝑒𝑠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8F2DADF-E6AC-A570-D7CF-2A99A24B62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60" y="2935992"/>
                  <a:ext cx="568343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667" t="-4444" b="-3555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10F31A-C21D-BA3A-1E96-B7858630FE45}"/>
                    </a:ext>
                  </a:extLst>
                </p:cNvPr>
                <p:cNvSpPr txBox="1"/>
                <p:nvPr/>
              </p:nvSpPr>
              <p:spPr>
                <a:xfrm>
                  <a:off x="3975160" y="3333394"/>
                  <a:ext cx="6230819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𝑁𝐶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𝑁𝐶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𝑇𝑤𝑜𝑁𝑎𝑚𝑒𝑠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NC</m:t>
                        </m:r>
                        <m: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TwoNames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10F31A-C21D-BA3A-1E96-B7858630FE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60" y="3333394"/>
                  <a:ext cx="623081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520" t="-4348" b="-3260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656217F-3A47-2D2E-8D5C-4286476A130F}"/>
                    </a:ext>
                  </a:extLst>
                </p:cNvPr>
                <p:cNvSpPr txBox="1"/>
                <p:nvPr/>
              </p:nvSpPr>
              <p:spPr>
                <a:xfrm>
                  <a:off x="3975159" y="3720326"/>
                  <a:ext cx="8552899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𝑁𝐶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𝑁𝐶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bg2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𝑇𝑤𝑜𝑁𝑎𝑚𝑒𝑠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NC</m:t>
                        </m:r>
                        <m: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TwoNames</m:t>
                        </m:r>
                        <m:r>
                          <a:rPr lang="en-US" i="1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5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NC</m:t>
                            </m:r>
                          </m:e>
                          <m:sup>
                            <m:r>
                              <a:rPr lang="en-US" b="0" i="0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TwoNames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656217F-3A47-2D2E-8D5C-4286476A13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159" y="3720326"/>
                  <a:ext cx="8552899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1108" t="-4444" b="-3555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BACF279-C152-D402-9C95-D3A174234A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3364" y="979202"/>
            <a:ext cx="3976322" cy="24235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0C6001C-EB8C-6C78-B381-F7B81DFDA4E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9682" y="979202"/>
            <a:ext cx="3976320" cy="2423562"/>
          </a:xfrm>
          <a:prstGeom prst="rect">
            <a:avLst/>
          </a:prstGeom>
        </p:spPr>
      </p:pic>
      <p:pic>
        <p:nvPicPr>
          <p:cNvPr id="33" name="Picture 4" descr="Adobe Character Animator Ryan Puppet on Behance">
            <a:extLst>
              <a:ext uri="{FF2B5EF4-FFF2-40B4-BE49-F238E27FC236}">
                <a16:creationId xmlns:a16="http://schemas.microsoft.com/office/drawing/2014/main" id="{4EDE1893-3292-52D7-1F7A-07737037F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160" y="8057"/>
            <a:ext cx="1326307" cy="66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Adobe Character Animator Debbie Puppet on Behance">
            <a:extLst>
              <a:ext uri="{FF2B5EF4-FFF2-40B4-BE49-F238E27FC236}">
                <a16:creationId xmlns:a16="http://schemas.microsoft.com/office/drawing/2014/main" id="{50530925-ED76-7A3F-4054-DFDA816B0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467" y="8057"/>
            <a:ext cx="1326308" cy="663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Jose - Adobe Character Animator Puppet | ElectroPuppet">
            <a:extLst>
              <a:ext uri="{FF2B5EF4-FFF2-40B4-BE49-F238E27FC236}">
                <a16:creationId xmlns:a16="http://schemas.microsoft.com/office/drawing/2014/main" id="{96DD6449-CD14-4DC0-12E7-AD7DA2948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082" y="9778"/>
            <a:ext cx="1314918" cy="657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84F1EDF-F6FD-3204-83A5-31A7C97E1D60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r="6373" b="9396"/>
          <a:stretch/>
        </p:blipFill>
        <p:spPr>
          <a:xfrm>
            <a:off x="9550776" y="8057"/>
            <a:ext cx="1336216" cy="6871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11D4F2-D8DC-EFF0-E2FC-2329A17A7D92}"/>
              </a:ext>
            </a:extLst>
          </p:cNvPr>
          <p:cNvSpPr txBox="1"/>
          <p:nvPr/>
        </p:nvSpPr>
        <p:spPr>
          <a:xfrm>
            <a:off x="633197" y="3573163"/>
            <a:ext cx="1359887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Female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CC390-B130-DB9D-402F-337FF6C86A83}"/>
              </a:ext>
            </a:extLst>
          </p:cNvPr>
          <p:cNvSpPr txBox="1"/>
          <p:nvPr/>
        </p:nvSpPr>
        <p:spPr>
          <a:xfrm>
            <a:off x="633198" y="3956395"/>
            <a:ext cx="1359887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Female</a:t>
            </a:r>
            <a:r>
              <a:rPr lang="en-US" sz="2400" b="1" kern="0" baseline="-25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2</a:t>
            </a:r>
            <a:endParaRPr kumimoji="0" lang="en-US" sz="2400" b="1" i="0" u="none" strike="noStrike" kern="0" cap="none" spc="0" normalizeH="0" baseline="-2500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A75801-8FCA-8679-143C-3743040CD653}"/>
              </a:ext>
            </a:extLst>
          </p:cNvPr>
          <p:cNvSpPr txBox="1"/>
          <p:nvPr/>
        </p:nvSpPr>
        <p:spPr>
          <a:xfrm>
            <a:off x="46420" y="4777743"/>
            <a:ext cx="202949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TwoNames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65B8E-F60D-74A4-E9B0-F9132E75248D}"/>
              </a:ext>
            </a:extLst>
          </p:cNvPr>
          <p:cNvSpPr txBox="1"/>
          <p:nvPr/>
        </p:nvSpPr>
        <p:spPr>
          <a:xfrm>
            <a:off x="46420" y="5113248"/>
            <a:ext cx="202949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TwoNames</a:t>
            </a:r>
            <a:r>
              <a: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A213A-A224-E4D2-A970-E11D201B3AC5}"/>
              </a:ext>
            </a:extLst>
          </p:cNvPr>
          <p:cNvSpPr txBox="1"/>
          <p:nvPr/>
        </p:nvSpPr>
        <p:spPr>
          <a:xfrm>
            <a:off x="5530978" y="591559"/>
            <a:ext cx="2715812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 Agents, 5 runs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9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lang="en-US" sz="3200" b="1" kern="0" spc="0" dirty="0">
                <a:solidFill>
                  <a:srgbClr val="861F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Semantic Variation Sensitivity Analysis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B73A3C3-09CD-C952-2DB5-0455A2FD7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574474"/>
              </p:ext>
            </p:extLst>
          </p:nvPr>
        </p:nvGraphicFramePr>
        <p:xfrm>
          <a:off x="718457" y="3839393"/>
          <a:ext cx="10312824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914">
                  <a:extLst>
                    <a:ext uri="{9D8B030D-6E8A-4147-A177-3AD203B41FA5}">
                      <a16:colId xmlns:a16="http://schemas.microsoft.com/office/drawing/2014/main" val="82070127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3715058434"/>
                    </a:ext>
                  </a:extLst>
                </a:gridCol>
                <a:gridCol w="1273629">
                  <a:extLst>
                    <a:ext uri="{9D8B030D-6E8A-4147-A177-3AD203B41FA5}">
                      <a16:colId xmlns:a16="http://schemas.microsoft.com/office/drawing/2014/main" val="3908031248"/>
                    </a:ext>
                  </a:extLst>
                </a:gridCol>
                <a:gridCol w="1257149">
                  <a:extLst>
                    <a:ext uri="{9D8B030D-6E8A-4147-A177-3AD203B41FA5}">
                      <a16:colId xmlns:a16="http://schemas.microsoft.com/office/drawing/2014/main" val="434091579"/>
                    </a:ext>
                  </a:extLst>
                </a:gridCol>
                <a:gridCol w="1289103">
                  <a:extLst>
                    <a:ext uri="{9D8B030D-6E8A-4147-A177-3AD203B41FA5}">
                      <a16:colId xmlns:a16="http://schemas.microsoft.com/office/drawing/2014/main" val="592120850"/>
                    </a:ext>
                  </a:extLst>
                </a:gridCol>
                <a:gridCol w="1289103">
                  <a:extLst>
                    <a:ext uri="{9D8B030D-6E8A-4147-A177-3AD203B41FA5}">
                      <a16:colId xmlns:a16="http://schemas.microsoft.com/office/drawing/2014/main" val="3720329454"/>
                    </a:ext>
                  </a:extLst>
                </a:gridCol>
                <a:gridCol w="1289103">
                  <a:extLst>
                    <a:ext uri="{9D8B030D-6E8A-4147-A177-3AD203B41FA5}">
                      <a16:colId xmlns:a16="http://schemas.microsoft.com/office/drawing/2014/main" val="950135029"/>
                    </a:ext>
                  </a:extLst>
                </a:gridCol>
                <a:gridCol w="1289103">
                  <a:extLst>
                    <a:ext uri="{9D8B030D-6E8A-4147-A177-3AD203B41FA5}">
                      <a16:colId xmlns:a16="http://schemas.microsoft.com/office/drawing/2014/main" val="17157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Equation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r>
                        <a:rPr lang="en-US" baseline="30000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200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Female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-21.27***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138.87***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557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Female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-21.32***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138.84***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153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TwoNames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-23.05***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164.49***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088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TwoNames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-23.76***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168.07***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16201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260293E4-E579-82C4-78CB-2B5C757A2F21}"/>
              </a:ext>
            </a:extLst>
          </p:cNvPr>
          <p:cNvSpPr txBox="1"/>
          <p:nvPr/>
        </p:nvSpPr>
        <p:spPr>
          <a:xfrm>
            <a:off x="718457" y="5962833"/>
            <a:ext cx="5648268" cy="615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hangingPunct="0">
              <a:defRPr/>
            </a:pPr>
            <a:r>
              <a:rPr kumimoji="0" lang="en-US" sz="1600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Calibri"/>
                <a:cs typeface="Calibri"/>
                <a:sym typeface="Calibri"/>
              </a:rPr>
              <a:t>***P&lt;0.000, **P&lt;0.01. *P&lt;0.05</a:t>
            </a:r>
            <a:endParaRPr kumimoji="0" lang="en-US" sz="1600" i="1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  <a:p>
            <a:pPr marL="285750" marR="0" lvl="0" indent="-28575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ea typeface="+mj-ea"/>
              <a:cs typeface="Calibri"/>
              <a:sym typeface="Calibri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467F214-7175-8571-B5A5-D5064CE8455B}"/>
              </a:ext>
            </a:extLst>
          </p:cNvPr>
          <p:cNvGrpSpPr/>
          <p:nvPr/>
        </p:nvGrpSpPr>
        <p:grpSpPr>
          <a:xfrm>
            <a:off x="8908715" y="29394"/>
            <a:ext cx="3250705" cy="1641114"/>
            <a:chOff x="177042" y="979202"/>
            <a:chExt cx="7952640" cy="484712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933480B-A8EE-7A62-8BCC-8C8C9A38C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7044" y="979202"/>
              <a:ext cx="3976320" cy="242356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E5BA5D8-99E0-298C-9B41-5D79175D3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7042" y="3402764"/>
              <a:ext cx="3976322" cy="242356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078AF66-7983-0AC2-ACF4-DE2EBCB06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53362" y="3402764"/>
              <a:ext cx="3976320" cy="2423562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713D2DB-226C-BA20-0998-18818F54B0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3484"/>
            <a:stretch/>
          </p:blipFill>
          <p:spPr>
            <a:xfrm>
              <a:off x="4153363" y="979203"/>
              <a:ext cx="3976319" cy="2439276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F18870C-1E02-9572-012B-00E2FC64FD70}"/>
              </a:ext>
            </a:extLst>
          </p:cNvPr>
          <p:cNvGrpSpPr/>
          <p:nvPr/>
        </p:nvGrpSpPr>
        <p:grpSpPr>
          <a:xfrm>
            <a:off x="998805" y="1778297"/>
            <a:ext cx="9830096" cy="1591702"/>
            <a:chOff x="263816" y="1781672"/>
            <a:chExt cx="9830096" cy="1591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858ED32-355E-ED12-5AAF-BE519994D56B}"/>
                    </a:ext>
                  </a:extLst>
                </p:cNvPr>
                <p:cNvSpPr txBox="1"/>
                <p:nvPr/>
              </p:nvSpPr>
              <p:spPr>
                <a:xfrm>
                  <a:off x="2341108" y="1933016"/>
                  <a:ext cx="7548840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𝑁𝑒𝑤𝐶𝑎𝑠𝑒𝑠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</m:t>
                        </m:r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𝑒𝑤𝐶𝑎𝑠𝑒𝑠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𝐹𝑒𝑚𝑎𝑙𝑒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858ED32-355E-ED12-5AAF-BE519994D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1108" y="1933016"/>
                  <a:ext cx="754884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454" t="-4444" b="-3555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7064F248-60CA-F4EC-ABED-3A192241B612}"/>
                    </a:ext>
                  </a:extLst>
                </p:cNvPr>
                <p:cNvSpPr txBox="1"/>
                <p:nvPr/>
              </p:nvSpPr>
              <p:spPr>
                <a:xfrm>
                  <a:off x="2341108" y="2330418"/>
                  <a:ext cx="7752804" cy="27699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0" tIns="0" rIns="0" bIns="0" numCol="1" spcCol="38100" rtlCol="0" anchor="t">
                  <a:spAutoFit/>
                </a:bodyPr>
                <a:lstStyle/>
                <a:p>
                  <a:pPr hangingPunct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𝑀𝑜𝑏𝑖𝑙𝑖𝑡𝑦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0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j-cs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1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𝑁𝐶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𝑁𝐶</m:t>
                            </m:r>
                          </m:e>
                          <m:sup>
                            <m:r>
                              <a:rPr kumimoji="0" lang="en-US" sz="18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chemeClr val="accent1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ea typeface="+mj-ea"/>
                                <a:cs typeface="+mj-cs"/>
                                <a:sym typeface="Calibri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∗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𝐹𝑒𝑚𝑎𝑙𝑒</m:t>
                        </m:r>
                        <m:r>
                          <a:rPr kumimoji="0" lang="en-US" sz="1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1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j-ea"/>
                            <a:cs typeface="+mj-cs"/>
                            <a:sym typeface="Calibri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sym typeface="Calibri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Calibri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NC</m:t>
                        </m:r>
                        <m: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Calibri"/>
                          </a:rPr>
                          <m:t>Female</m:t>
                        </m:r>
                      </m:oMath>
                    </m:oMathPara>
                  </a14:m>
                  <a:endParaRPr kumimoji="0" lang="en-US" sz="1800" b="0" i="0" u="none" strike="noStrike" cap="none" spc="0" normalizeH="0" baseline="0" dirty="0">
                    <a:ln>
                      <a:noFill/>
                    </a:ln>
                    <a:solidFill>
                      <a:schemeClr val="accent1"/>
                    </a:solidFill>
                    <a:effectLst/>
                    <a:uFillTx/>
                    <a:latin typeface="+mj-lt"/>
                    <a:ea typeface="+mj-ea"/>
                    <a:cs typeface="+mj-cs"/>
                    <a:sym typeface="Calibri"/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7064F248-60CA-F4EC-ABED-3A192241B6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1108" y="2330418"/>
                  <a:ext cx="7752804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1416" t="-4444" b="-3555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649D0791-9D84-C28F-9A05-D65B6CD2A036}"/>
                </a:ext>
              </a:extLst>
            </p:cNvPr>
            <p:cNvGrpSpPr/>
            <p:nvPr/>
          </p:nvGrpSpPr>
          <p:grpSpPr>
            <a:xfrm>
              <a:off x="2341107" y="2698973"/>
              <a:ext cx="7213385" cy="674401"/>
              <a:chOff x="3975160" y="2935992"/>
              <a:chExt cx="6230819" cy="67440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8C4263D-1FC4-DD1C-86C8-CD29C96B8660}"/>
                      </a:ext>
                    </a:extLst>
                  </p:cNvPr>
                  <p:cNvSpPr txBox="1"/>
                  <p:nvPr/>
                </p:nvSpPr>
                <p:spPr>
                  <a:xfrm>
                    <a:off x="3975160" y="2935992"/>
                    <a:ext cx="5683439" cy="27699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t">
                    <a:spAutoFit/>
                  </a:bodyPr>
                  <a:lstStyle/>
                  <a:p>
                    <a:pPr hangingPunct="0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𝑀𝑜𝑏𝑖𝑙𝑖𝑡𝑦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0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j-cs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𝑁𝑒𝑤𝐶𝑎𝑠𝑒𝑠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</m:t>
                          </m:r>
                          <m:sSup>
                            <m:sSupPr>
                              <m:ctrlP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𝑒𝑤𝐶𝑎𝑠𝑒𝑠</m:t>
                              </m:r>
                            </m:e>
                            <m:sup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sym typeface="Calibri"/>
                            </a:rPr>
                            <m:t>∗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𝑇𝑤𝑜𝑁𝑎𝑚𝑒𝑠</m:t>
                          </m:r>
                        </m:oMath>
                      </m:oMathPara>
                    </a14:m>
                    <a:endParaRPr kumimoji="0" lang="en-US" sz="1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latin typeface="+mj-lt"/>
                      <a:ea typeface="+mj-ea"/>
                      <a:cs typeface="+mj-cs"/>
                      <a:sym typeface="Calibri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8C4263D-1FC4-DD1C-86C8-CD29C96B86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5160" y="2935992"/>
                    <a:ext cx="5683439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668" t="-4348" b="-32609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3DCB7DB2-4412-1DD0-9DD5-6CAFAF65AECC}"/>
                      </a:ext>
                    </a:extLst>
                  </p:cNvPr>
                  <p:cNvSpPr txBox="1"/>
                  <p:nvPr/>
                </p:nvSpPr>
                <p:spPr>
                  <a:xfrm>
                    <a:off x="3975160" y="3333394"/>
                    <a:ext cx="6230819" cy="27699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none" lIns="0" tIns="0" rIns="0" bIns="0" numCol="1" spcCol="38100" rtlCol="0" anchor="t">
                    <a:spAutoFit/>
                  </a:bodyPr>
                  <a:lstStyle/>
                  <a:p>
                    <a:pPr hangingPunct="0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𝑀𝑜𝑏𝑖𝑙𝑖𝑡𝑦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0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j-cs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𝑁𝐶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𝑁𝐶</m:t>
                              </m:r>
                            </m:e>
                            <m:sup>
                              <m:r>
                                <a:rPr kumimoji="0" lang="en-US" sz="1800" b="0" i="1" u="none" strike="noStrike" cap="none" spc="0" normalizeH="0" baseline="0" smtClean="0">
                                  <a:ln>
                                    <a:noFill/>
                                  </a:ln>
                                  <a:solidFill>
                                    <a:schemeClr val="accent1"/>
                                  </a:solidFill>
                                  <a:effectLst/>
                                  <a:uFillTx/>
                                  <a:latin typeface="Cambria Math" panose="02040503050406030204" pitchFamily="18" charset="0"/>
                                  <a:ea typeface="+mj-ea"/>
                                  <a:cs typeface="+mj-cs"/>
                                  <a:sym typeface="Calibri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3</m:t>
                              </m:r>
                            </m:sub>
                          </m:sSub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∗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𝑇𝑤𝑜𝑁𝑎𝑚𝑒𝑠</m:t>
                          </m:r>
                          <m:r>
                            <a:rPr kumimoji="0" lang="en-US" sz="1800" b="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+mj-ea"/>
                              <a:cs typeface="+mj-cs"/>
                              <a:sym typeface="Calibri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sym typeface="Calibri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Calibri"/>
                                </a:rPr>
                                <m:t>4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NC</m:t>
                          </m:r>
                          <m: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TwoNames</m:t>
                          </m:r>
                        </m:oMath>
                      </m:oMathPara>
                    </a14:m>
                    <a:endParaRPr kumimoji="0" lang="en-US" sz="1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FillTx/>
                      <a:latin typeface="+mj-lt"/>
                      <a:ea typeface="+mj-ea"/>
                      <a:cs typeface="+mj-cs"/>
                      <a:sym typeface="Calibri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3DCB7DB2-4412-1DD0-9DD5-6CAFAF65AE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75160" y="3333394"/>
                    <a:ext cx="6230819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522" t="-4348" b="-32609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95D2F1D-F433-C4A5-A63C-19BBCACF2823}"/>
                </a:ext>
              </a:extLst>
            </p:cNvPr>
            <p:cNvSpPr txBox="1"/>
            <p:nvPr/>
          </p:nvSpPr>
          <p:spPr>
            <a:xfrm>
              <a:off x="850594" y="1781672"/>
              <a:ext cx="1359887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cherus Grotesque"/>
                </a:rPr>
                <a:t>Female</a:t>
              </a:r>
              <a:r>
                <a:rPr kumimoji="0" 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cherus Grotesque"/>
                </a:rPr>
                <a:t>1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2A9DCB5-C0D4-8638-5777-BBE0DC0D01F0}"/>
                </a:ext>
              </a:extLst>
            </p:cNvPr>
            <p:cNvSpPr txBox="1"/>
            <p:nvPr/>
          </p:nvSpPr>
          <p:spPr>
            <a:xfrm>
              <a:off x="850595" y="2164904"/>
              <a:ext cx="1359887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cherus Grotesque"/>
                </a:rPr>
                <a:t>Female</a:t>
              </a:r>
              <a:r>
                <a:rPr lang="en-US" sz="2400" b="1" kern="0" baseline="-25000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cherus Grotesque"/>
                </a:rPr>
                <a:t>2</a:t>
              </a:r>
              <a:endParaRPr kumimoji="0" lang="en-US" sz="2400" b="1" i="0" u="none" strike="noStrike" kern="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A598ED-9B15-CD9B-5667-123032C7B246}"/>
                </a:ext>
              </a:extLst>
            </p:cNvPr>
            <p:cNvSpPr txBox="1"/>
            <p:nvPr/>
          </p:nvSpPr>
          <p:spPr>
            <a:xfrm>
              <a:off x="263816" y="2576204"/>
              <a:ext cx="2029490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cherus Grotesque"/>
                </a:rPr>
                <a:t>TwoNames</a:t>
              </a:r>
              <a:r>
                <a:rPr kumimoji="0" 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cherus Grotesque"/>
                </a:rPr>
                <a:t>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9C01444-3030-084B-31B3-027D1B344918}"/>
                </a:ext>
              </a:extLst>
            </p:cNvPr>
            <p:cNvSpPr txBox="1"/>
            <p:nvPr/>
          </p:nvSpPr>
          <p:spPr>
            <a:xfrm>
              <a:off x="263816" y="2911709"/>
              <a:ext cx="2029490" cy="4616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cherus Grotesque"/>
                </a:rPr>
                <a:t>TwoNames</a:t>
              </a:r>
              <a:r>
                <a:rPr kumimoji="0" 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Acherus Grotesque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826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highlight>
                  <a:srgbClr val="81273E"/>
                </a:highlight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prompt sensitivity analysis? </a:t>
            </a:r>
          </a:p>
        </p:txBody>
      </p:sp>
      <p:pic>
        <p:nvPicPr>
          <p:cNvPr id="9220" name="Picture 4" descr="Adobe Character Animator Ryan Puppet on Behance">
            <a:extLst>
              <a:ext uri="{FF2B5EF4-FFF2-40B4-BE49-F238E27FC236}">
                <a16:creationId xmlns:a16="http://schemas.microsoft.com/office/drawing/2014/main" id="{E77EE326-4775-57E3-F435-514201FE1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79" y="2735579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dobe Character Animator Debbie Puppet on Behance">
            <a:extLst>
              <a:ext uri="{FF2B5EF4-FFF2-40B4-BE49-F238E27FC236}">
                <a16:creationId xmlns:a16="http://schemas.microsoft.com/office/drawing/2014/main" id="{D99040A8-1EF0-550D-4DE6-6FAE3F0C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81" y="4712713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808F2-B426-9C2F-93B6-6F4E44F47647}"/>
              </a:ext>
            </a:extLst>
          </p:cNvPr>
          <p:cNvSpPr txBox="1"/>
          <p:nvPr/>
        </p:nvSpPr>
        <p:spPr>
          <a:xfrm>
            <a:off x="11236488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20CFB-38D4-5974-F0D0-3E5F15D24F92}"/>
              </a:ext>
            </a:extLst>
          </p:cNvPr>
          <p:cNvSpPr txBox="1"/>
          <p:nvPr/>
        </p:nvSpPr>
        <p:spPr>
          <a:xfrm>
            <a:off x="11236488" y="4778599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371917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9" descr="A group of white cards with black text&#10;&#10;Description automatically generated">
            <a:extLst>
              <a:ext uri="{FF2B5EF4-FFF2-40B4-BE49-F238E27FC236}">
                <a16:creationId xmlns:a16="http://schemas.microsoft.com/office/drawing/2014/main" id="{79E8CA6A-2998-AEF2-243E-6040E0412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7" y="2735580"/>
            <a:ext cx="7544159" cy="40289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prompt sensitivity analysis? </a:t>
            </a:r>
          </a:p>
        </p:txBody>
      </p:sp>
      <p:pic>
        <p:nvPicPr>
          <p:cNvPr id="9220" name="Picture 4" descr="Adobe Character Animator Ryan Puppet on Behance">
            <a:extLst>
              <a:ext uri="{FF2B5EF4-FFF2-40B4-BE49-F238E27FC236}">
                <a16:creationId xmlns:a16="http://schemas.microsoft.com/office/drawing/2014/main" id="{E77EE326-4775-57E3-F435-514201FE1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79" y="2735579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Adobe Character Animator Debbie Puppet on Behance">
            <a:extLst>
              <a:ext uri="{FF2B5EF4-FFF2-40B4-BE49-F238E27FC236}">
                <a16:creationId xmlns:a16="http://schemas.microsoft.com/office/drawing/2014/main" id="{D99040A8-1EF0-550D-4DE6-6FAE3F0C1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3681" y="4712713"/>
            <a:ext cx="4103542" cy="2051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DDF14E-E933-678B-B421-A359F8935AFE}"/>
              </a:ext>
            </a:extLst>
          </p:cNvPr>
          <p:cNvSpPr txBox="1"/>
          <p:nvPr/>
        </p:nvSpPr>
        <p:spPr>
          <a:xfrm>
            <a:off x="7013236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2AD667-01C8-5BF4-5D28-127D08208B6A}"/>
              </a:ext>
            </a:extLst>
          </p:cNvPr>
          <p:cNvSpPr txBox="1"/>
          <p:nvPr/>
        </p:nvSpPr>
        <p:spPr>
          <a:xfrm>
            <a:off x="7016432" y="4769848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FBB4F6-06F3-B3AB-0729-FEF8C01B246B}"/>
              </a:ext>
            </a:extLst>
          </p:cNvPr>
          <p:cNvSpPr txBox="1"/>
          <p:nvPr/>
        </p:nvSpPr>
        <p:spPr>
          <a:xfrm>
            <a:off x="3097975" y="475003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808F2-B426-9C2F-93B6-6F4E44F47647}"/>
              </a:ext>
            </a:extLst>
          </p:cNvPr>
          <p:cNvSpPr txBox="1"/>
          <p:nvPr/>
        </p:nvSpPr>
        <p:spPr>
          <a:xfrm>
            <a:off x="11236488" y="2775212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820CFB-38D4-5974-F0D0-3E5F15D24F92}"/>
              </a:ext>
            </a:extLst>
          </p:cNvPr>
          <p:cNvSpPr txBox="1"/>
          <p:nvPr/>
        </p:nvSpPr>
        <p:spPr>
          <a:xfrm>
            <a:off x="11236488" y="4778599"/>
            <a:ext cx="812504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231730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is prompt sensitivity analysis?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C226E-1A3A-1595-06DA-9E7BCD90D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926085"/>
            <a:ext cx="4660770" cy="159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68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7E4EB4-0E13-A2AA-62FD-37566ED70B7E}"/>
              </a:ext>
            </a:extLst>
          </p:cNvPr>
          <p:cNvSpPr txBox="1"/>
          <p:nvPr/>
        </p:nvSpPr>
        <p:spPr>
          <a:xfrm>
            <a:off x="627676" y="926085"/>
            <a:ext cx="894528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variation sensitivity analysis, </a:t>
            </a:r>
          </a:p>
          <a:p>
            <a:pPr marL="514350" indent="-514350">
              <a:buFont typeface="+mj-lt"/>
              <a:buAutoNum type="arabicPeriod"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Contextual shift sensitivity analysis,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Name sensitivity analysis</a:t>
            </a:r>
          </a:p>
        </p:txBody>
      </p:sp>
      <p:sp>
        <p:nvSpPr>
          <p:cNvPr id="12" name="MEET OUR TEAM">
            <a:extLst>
              <a:ext uri="{FF2B5EF4-FFF2-40B4-BE49-F238E27FC236}">
                <a16:creationId xmlns:a16="http://schemas.microsoft.com/office/drawing/2014/main" id="{35254D17-5340-43C3-42D2-63FAF553E1E5}"/>
              </a:ext>
            </a:extLst>
          </p:cNvPr>
          <p:cNvSpPr/>
          <p:nvPr/>
        </p:nvSpPr>
        <p:spPr>
          <a:xfrm>
            <a:off x="627676" y="-216976"/>
            <a:ext cx="1171019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hangingPunct="0"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What have we learned from prompt sensitivity analysis?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C226E-1A3A-1595-06DA-9E7BCD90D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926085"/>
            <a:ext cx="4660770" cy="15986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7C23D7-601A-CC81-BCD5-964DEDDD0014}"/>
              </a:ext>
            </a:extLst>
          </p:cNvPr>
          <p:cNvSpPr txBox="1"/>
          <p:nvPr/>
        </p:nvSpPr>
        <p:spPr>
          <a:xfrm>
            <a:off x="627676" y="3085615"/>
            <a:ext cx="9596377" cy="30469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Semantic phrasing matters</a:t>
            </a:r>
          </a:p>
          <a:p>
            <a:pPr marL="514350" indent="-514350">
              <a:buFont typeface="+mj-lt"/>
              <a:buAutoNum type="arabicPeriod"/>
            </a:pPr>
            <a:endParaRPr kumimoji="0" lang="en-US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b="1" kern="0" dirty="0"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Different contexts create different results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  <a:p>
            <a:pPr marL="514350" indent="-514350">
              <a:buFont typeface="+mj-lt"/>
              <a:buAutoNum type="arabicPeriod"/>
            </a:pPr>
            <a:endParaRPr lang="en-US" sz="3200" b="1" kern="0" dirty="0">
              <a:latin typeface="Arial" panose="020B0604020202020204" pitchFamily="34" charset="0"/>
              <a:cs typeface="Arial" panose="020B0604020202020204" pitchFamily="34" charset="0"/>
              <a:sym typeface="Acherus Grotesque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b="1" kern="0" dirty="0"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Agents who have personas are insensitive to name changes</a:t>
            </a:r>
          </a:p>
        </p:txBody>
      </p:sp>
    </p:spTree>
    <p:extLst>
      <p:ext uri="{BB962C8B-B14F-4D97-AF65-F5344CB8AC3E}">
        <p14:creationId xmlns:p14="http://schemas.microsoft.com/office/powerpoint/2010/main" val="3037453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Timeline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2782D19-0FC3-8DAD-C684-6D398F11B9E1}"/>
              </a:ext>
            </a:extLst>
          </p:cNvPr>
          <p:cNvSpPr txBox="1"/>
          <p:nvPr/>
        </p:nvSpPr>
        <p:spPr>
          <a:xfrm>
            <a:off x="416130" y="4669538"/>
            <a:ext cx="270999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 hangingPunct="0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rPr>
              <a:t>What is generative agent-based modeling?</a:t>
            </a:r>
            <a:endParaRPr kumimoji="0" lang="en-US" sz="1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Calibri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CE259E7-DA1A-E5F3-542C-E8F69F7AE4B0}"/>
              </a:ext>
            </a:extLst>
          </p:cNvPr>
          <p:cNvSpPr txBox="1"/>
          <p:nvPr/>
        </p:nvSpPr>
        <p:spPr>
          <a:xfrm>
            <a:off x="4041369" y="4675402"/>
            <a:ext cx="3292427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 hangingPunct="0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rPr>
              <a:t>Our generative agent epidemic model</a:t>
            </a:r>
            <a:endParaRPr kumimoji="0" lang="en-US" sz="1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70B301-1A12-5D51-70E3-613C771CC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179" y="2628282"/>
            <a:ext cx="2986856" cy="1136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630E28-59D6-D7D3-627E-D8EF9CC9E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6295" y="2021294"/>
            <a:ext cx="3711196" cy="255067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F17A075-9F86-C2D8-EE81-07D2060154E0}"/>
              </a:ext>
            </a:extLst>
          </p:cNvPr>
          <p:cNvGrpSpPr/>
          <p:nvPr/>
        </p:nvGrpSpPr>
        <p:grpSpPr>
          <a:xfrm>
            <a:off x="7995164" y="2084852"/>
            <a:ext cx="3976320" cy="3236879"/>
            <a:chOff x="7995164" y="2084852"/>
            <a:chExt cx="3976320" cy="3236879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E92A84E-B4AC-A45E-6737-40616C5E1E24}"/>
                </a:ext>
              </a:extLst>
            </p:cNvPr>
            <p:cNvSpPr txBox="1"/>
            <p:nvPr/>
          </p:nvSpPr>
          <p:spPr>
            <a:xfrm>
              <a:off x="8612368" y="4675402"/>
              <a:ext cx="3292427" cy="646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algn="ctr" hangingPunct="0"/>
              <a:r>
                <a:rPr lang="en-US" b="1" dirty="0">
                  <a:solidFill>
                    <a:schemeClr val="accent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  <a:sym typeface="Calibri"/>
                </a:rPr>
                <a:t>What is the prompt sensitivity analysis?</a:t>
              </a:r>
              <a:endParaRPr kumimoji="0" lang="en-US" sz="18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Calibri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F8267E3-6C17-B138-C0C8-B5FF83089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95164" y="2084852"/>
              <a:ext cx="3976320" cy="24235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628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1"/>
          <p:cNvSpPr/>
          <p:nvPr/>
        </p:nvSpPr>
        <p:spPr>
          <a:xfrm>
            <a:off x="2463183" y="2562981"/>
            <a:ext cx="557895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90000"/>
              </a:lnSpc>
              <a:defRPr sz="4000" spc="90">
                <a:solidFill>
                  <a:schemeClr val="accent2"/>
                </a:solidFill>
                <a:latin typeface="Gineso Cond Thin"/>
                <a:ea typeface="Gineso Cond Thin"/>
                <a:cs typeface="Gineso Cond Thin"/>
                <a:sym typeface="Gineso Cond Thin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000" b="0" i="0" u="none" strike="noStrike" kern="0" cap="none" spc="90" normalizeH="0" baseline="0" noProof="0" dirty="0">
              <a:ln>
                <a:noFill/>
              </a:ln>
              <a:solidFill>
                <a:srgbClr val="E87731"/>
              </a:solidFill>
              <a:effectLst/>
              <a:uLnTx/>
              <a:uFillTx/>
              <a:latin typeface="Acherus Grotesque Light" panose="02000505000000020004" pitchFamily="2" charset="77"/>
              <a:sym typeface="Gineso Cond Thin"/>
            </a:endParaRPr>
          </a:p>
        </p:txBody>
      </p:sp>
      <p:sp>
        <p:nvSpPr>
          <p:cNvPr id="172" name="Straight Connector 19"/>
          <p:cNvSpPr/>
          <p:nvPr/>
        </p:nvSpPr>
        <p:spPr>
          <a:xfrm>
            <a:off x="-1462207" y="6283031"/>
            <a:ext cx="5760720" cy="49014"/>
          </a:xfrm>
          <a:prstGeom prst="line">
            <a:avLst/>
          </a:prstGeom>
          <a:ln>
            <a:solidFill>
              <a:schemeClr val="bg2"/>
            </a:solidFill>
            <a:prstDash val="dash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861F41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2" name="SECTION TITLE">
            <a:extLst>
              <a:ext uri="{FF2B5EF4-FFF2-40B4-BE49-F238E27FC236}">
                <a16:creationId xmlns:a16="http://schemas.microsoft.com/office/drawing/2014/main" id="{67A82293-05DF-684F-9B63-235EE510042C}"/>
              </a:ext>
            </a:extLst>
          </p:cNvPr>
          <p:cNvSpPr/>
          <p:nvPr/>
        </p:nvSpPr>
        <p:spPr>
          <a:xfrm>
            <a:off x="2231570" y="1416387"/>
            <a:ext cx="7497247" cy="4025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658368">
              <a:lnSpc>
                <a:spcPct val="90000"/>
              </a:lnSpc>
              <a:defRPr sz="5184" spc="259">
                <a:latin typeface="AcherusGrotesqueLight"/>
                <a:ea typeface="AcherusGrotesqueLight"/>
                <a:cs typeface="AcherusGrotesqueLight"/>
                <a:sym typeface="AcherusGrotesqueLight"/>
              </a:defRPr>
            </a:lvl1pPr>
          </a:lstStyle>
          <a:p>
            <a:pPr marL="0" marR="0" lvl="0" indent="0" algn="ctr" defTabSz="658368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GrotesqueLight"/>
              </a:rPr>
              <a:t>Thank you! </a:t>
            </a:r>
          </a:p>
          <a:p>
            <a:pPr marL="0" marR="0" lvl="0" indent="0" algn="ctr" defTabSz="658368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8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cherusGrotesqueLight"/>
            </a:endParaRPr>
          </a:p>
          <a:p>
            <a:pPr marL="0" marR="0" lvl="0" indent="0" algn="ctr" defTabSz="658368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GrotesqueLight"/>
              </a:rPr>
              <a:t>Ross 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GrotesqueLight"/>
              </a:rPr>
              <a:t>Fantus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GrotesqueLight"/>
              </a:rPr>
              <a:t> Williams</a:t>
            </a:r>
          </a:p>
          <a:p>
            <a:pPr marL="0" marR="0" lvl="0" indent="0" algn="ctr" defTabSz="658368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spc="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GrotesqueLight"/>
              </a:rPr>
              <a:t>mail: rossfw@vt.edu</a:t>
            </a:r>
            <a:endParaRPr kumimoji="0" sz="2400" b="0" i="0" u="none" strike="noStrike" kern="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cherus Grotesque Medium" panose="02000505000000020004" pitchFamily="2" charset="77"/>
              <a:sym typeface="AcherusGrotesqueLigh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1524F7-7B00-8C4C-9F42-614DECF65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53" y="6497994"/>
            <a:ext cx="2286000" cy="20320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A73D714-4E0A-3B0D-1449-EFA22A1DA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0331" y="6283031"/>
            <a:ext cx="2781669" cy="57806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98814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MEET OUR TEAM">
            <a:extLst>
              <a:ext uri="{FF2B5EF4-FFF2-40B4-BE49-F238E27FC236}">
                <a16:creationId xmlns:a16="http://schemas.microsoft.com/office/drawing/2014/main" id="{58A4615E-0D05-CF5D-9595-2B44F20A207D}"/>
              </a:ext>
            </a:extLst>
          </p:cNvPr>
          <p:cNvSpPr/>
          <p:nvPr/>
        </p:nvSpPr>
        <p:spPr>
          <a:xfrm>
            <a:off x="627676" y="-216976"/>
            <a:ext cx="10826223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Results from our generative epidemic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D7171F-AF29-F41D-E076-52DBA10FB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17" y="960120"/>
            <a:ext cx="7263487" cy="55092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2254C5-1C53-6C7A-C914-4158B47B6C2B}"/>
              </a:ext>
            </a:extLst>
          </p:cNvPr>
          <p:cNvSpPr txBox="1"/>
          <p:nvPr/>
        </p:nvSpPr>
        <p:spPr>
          <a:xfrm>
            <a:off x="9639896" y="434098"/>
            <a:ext cx="2392083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1000 Agents</a:t>
            </a: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67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513927" y="267751"/>
            <a:ext cx="11315092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t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Appendix: extra generative agent epidemic model 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0D86CD-D2DA-753E-49AF-91340B79B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014" y="830580"/>
            <a:ext cx="6578680" cy="58978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E9D114-B1D9-0525-E8D5-B2D3B8AD9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437" y="849951"/>
            <a:ext cx="3991330" cy="582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0021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A4EB-9571-4135-C33E-117DF855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2CB57A-04DC-538A-3B86-19CEDF7BF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08" y="0"/>
            <a:ext cx="115833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73561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513927" y="267751"/>
            <a:ext cx="11315092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t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Appendix: extra generative agent epidemic model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40F4D4-EBAB-3957-4884-E3FCA0CAA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495" y="861059"/>
            <a:ext cx="7967010" cy="579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77483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asted-image.pdf" descr="pasted-image.pdf">
            <a:extLst>
              <a:ext uri="{FF2B5EF4-FFF2-40B4-BE49-F238E27FC236}">
                <a16:creationId xmlns:a16="http://schemas.microsoft.com/office/drawing/2014/main" id="{C013E50F-EFC8-F14B-B89B-31358936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79" y="202740"/>
            <a:ext cx="227497" cy="227497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MEET OUR TEAM">
            <a:extLst>
              <a:ext uri="{FF2B5EF4-FFF2-40B4-BE49-F238E27FC236}">
                <a16:creationId xmlns:a16="http://schemas.microsoft.com/office/drawing/2014/main" id="{E3365DE4-8A2E-5142-8B94-0FDEBECD92AC}"/>
              </a:ext>
            </a:extLst>
          </p:cNvPr>
          <p:cNvSpPr/>
          <p:nvPr/>
        </p:nvSpPr>
        <p:spPr>
          <a:xfrm>
            <a:off x="513927" y="267751"/>
            <a:ext cx="11315092" cy="1066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t">
            <a:noAutofit/>
          </a:bodyPr>
          <a:lstStyle>
            <a:lvl1pPr defTabSz="859536">
              <a:lnSpc>
                <a:spcPct val="90000"/>
              </a:lnSpc>
              <a:defRPr sz="3759" spc="188">
                <a:solidFill>
                  <a:srgbClr val="585C5E"/>
                </a:solidFill>
                <a:latin typeface="Acherus Grotesque Regular"/>
                <a:ea typeface="Acherus Grotesque Regular"/>
                <a:cs typeface="Acherus Grotesque Regular"/>
                <a:sym typeface="Acherus Grotesque"/>
              </a:defRPr>
            </a:lvl1pPr>
          </a:lstStyle>
          <a:p>
            <a:pPr marL="0" marR="0" lvl="0" indent="0" algn="l" defTabSz="859536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861F4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cherus Grotesque"/>
              </a:rPr>
              <a:t>Appendix: extra generative agent epidemic model 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31F809-C0FD-B04F-E35F-7DED870D9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244" y="807720"/>
            <a:ext cx="5469512" cy="605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91073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Theme Colors 2">
      <a:dk1>
        <a:srgbClr val="861F41"/>
      </a:dk1>
      <a:lt1>
        <a:srgbClr val="FFFFFF"/>
      </a:lt1>
      <a:dk2>
        <a:srgbClr val="75787B"/>
      </a:dk2>
      <a:lt2>
        <a:srgbClr val="DBDBDB"/>
      </a:lt2>
      <a:accent1>
        <a:srgbClr val="861F41"/>
      </a:accent1>
      <a:accent2>
        <a:srgbClr val="E87731"/>
      </a:accent2>
      <a:accent3>
        <a:srgbClr val="A5A5A5"/>
      </a:accent3>
      <a:accent4>
        <a:srgbClr val="417C79"/>
      </a:accent4>
      <a:accent5>
        <a:srgbClr val="E5E1E6"/>
      </a:accent5>
      <a:accent6>
        <a:srgbClr val="003C71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="" xmlns:ma14="http://schemas.microsoft.com/office/mac/drawingml/2011/main" val="1"/>
          </a:ext>
        </a:extLst>
      </a:spPr>
      <a:bodyPr lIns="45719" rIns="45719">
        <a:spAutoFit/>
      </a:bodyPr>
      <a:lstStyle>
        <a:defPPr>
          <a:defRPr dirty="0" smtClean="0"/>
        </a:defPPr>
      </a:lst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5412</TotalTime>
  <Words>1764</Words>
  <Application>Microsoft Office PowerPoint</Application>
  <PresentationFormat>Widescreen</PresentationFormat>
  <Paragraphs>350</Paragraphs>
  <Slides>44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Acherus Grotesque Light</vt:lpstr>
      <vt:lpstr>Acherus Grotesque Medium</vt:lpstr>
      <vt:lpstr>Acherus Grotesque Regular</vt:lpstr>
      <vt:lpstr>Arial</vt:lpstr>
      <vt:lpstr>Calibri</vt:lpstr>
      <vt:lpstr>Calibri Light</vt:lpstr>
      <vt:lpstr>Cambria Math</vt:lpstr>
      <vt:lpstr>Helvetica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georgia liu</dc:creator>
  <cp:lastModifiedBy>Williams, Ross</cp:lastModifiedBy>
  <cp:revision>16</cp:revision>
  <dcterms:created xsi:type="dcterms:W3CDTF">2022-05-05T00:07:06Z</dcterms:created>
  <dcterms:modified xsi:type="dcterms:W3CDTF">2023-09-28T19:34:46Z</dcterms:modified>
</cp:coreProperties>
</file>